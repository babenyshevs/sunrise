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  <p:sldMasterId id="2147483902" r:id="rId5"/>
  </p:sldMasterIdLst>
  <p:notesMasterIdLst>
    <p:notesMasterId r:id="rId13"/>
  </p:notesMasterIdLst>
  <p:sldIdLst>
    <p:sldId id="256" r:id="rId6"/>
    <p:sldId id="2147474698" r:id="rId7"/>
    <p:sldId id="2147474701" r:id="rId8"/>
    <p:sldId id="2147474689" r:id="rId9"/>
    <p:sldId id="2147474706" r:id="rId10"/>
    <p:sldId id="2147474685" r:id="rId11"/>
    <p:sldId id="2147474626" r:id="rId12"/>
  </p:sldIdLst>
  <p:sldSz cx="12192000" cy="6858000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29" autoAdjust="0"/>
    <p:restoredTop sz="94655" autoAdjust="0"/>
  </p:normalViewPr>
  <p:slideViewPr>
    <p:cSldViewPr showGuides="1">
      <p:cViewPr varScale="1">
        <p:scale>
          <a:sx n="76" d="100"/>
          <a:sy n="76" d="100"/>
        </p:scale>
        <p:origin x="200" y="10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18.06.26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oleObject" Target="../embeddings/oleObject2.bin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image" Target="../media/image3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  <p:sldLayoutId id="2147483935" r:id="rId33"/>
    <p:sldLayoutId id="2147483936" r:id="rId34"/>
    <p:sldLayoutId id="2147483937" r:id="rId35"/>
    <p:sldLayoutId id="2147483938" r:id="rId36"/>
    <p:sldLayoutId id="2147483939" r:id="rId37"/>
    <p:sldLayoutId id="2147483940" r:id="rId38"/>
    <p:sldLayoutId id="2147483941" r:id="rId39"/>
    <p:sldLayoutId id="2147483942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Stanislav </a:t>
            </a:r>
            <a:r>
              <a:rPr lang="en-GB" dirty="0" err="1"/>
              <a:t>Babenyshev</a:t>
            </a:r>
            <a:endParaRPr lang="en-GB" dirty="0"/>
          </a:p>
          <a:p>
            <a:r>
              <a:rPr lang="en-GB" dirty="0"/>
              <a:t>19.06.2026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73CA-C871-6357-B2F3-35A6ABA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3B06-5A28-1880-7E39-51BB8D5B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Executive Summary: </a:t>
            </a:r>
            <a:r>
              <a:rPr lang="en-GB" sz="2400" dirty="0"/>
              <a:t>Targeted rollout unlocks CHF +20.7M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9F99-1057-0A04-4234-12F3858D84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D50F-3FC2-DB86-2FEB-68D62C6BE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681A-CA9A-2ECC-969B-110DC936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BF8BC-788D-B39C-C722-DF5742230246}"/>
              </a:ext>
            </a:extLst>
          </p:cNvPr>
          <p:cNvSpPr txBox="1"/>
          <p:nvPr/>
        </p:nvSpPr>
        <p:spPr>
          <a:xfrm>
            <a:off x="457200" y="2620888"/>
            <a:ext cx="5854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Recommendation</a:t>
            </a:r>
          </a:p>
          <a:p>
            <a:pPr algn="l"/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Roll out booster to Extreme internet users</a:t>
            </a:r>
            <a:endParaRPr lang="en-GB" b="1" dirty="0">
              <a:solidFill>
                <a:srgbClr val="C0392B"/>
              </a:solidFill>
              <a:latin typeface="Arial"/>
            </a:endParaRPr>
          </a:p>
          <a:p>
            <a:r>
              <a:rPr lang="en-GB" b="1" dirty="0">
                <a:solidFill>
                  <a:srgbClr val="C0392B"/>
                </a:solidFill>
                <a:latin typeface="Arial"/>
              </a:rPr>
              <a:t>✗  </a:t>
            </a:r>
            <a:r>
              <a:rPr lang="en-GB" dirty="0"/>
              <a:t>Do not extend to full customer base</a:t>
            </a:r>
          </a:p>
          <a:p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Validate with a randomized A/B test before 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78F14-938B-1987-447D-B756AB9997F7}"/>
              </a:ext>
            </a:extLst>
          </p:cNvPr>
          <p:cNvSpPr txBox="1"/>
          <p:nvPr/>
        </p:nvSpPr>
        <p:spPr>
          <a:xfrm>
            <a:off x="457200" y="5787022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Extreme users capture 96% of the saved revenue at 17% of the cost.</a:t>
            </a:r>
          </a:p>
        </p:txBody>
      </p:sp>
      <p:sp>
        <p:nvSpPr>
          <p:cNvPr id="901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02" name="Graphic 90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69517"/>
              </p:ext>
            </p:extLst>
          </p:nvPr>
        </p:nvGraphicFramePr>
        <p:xfrm>
          <a:off x="6667500" y="2620888"/>
          <a:ext cx="4749800" cy="1600200"/>
        </p:xfrm>
        <a:graphic>
          <a:graphicData uri="http://schemas.openxmlformats.org/drawingml/2006/table">
            <a:tbl>
              <a:tblPr firstRow="1" bandRow="1"/>
              <a:tblGrid>
                <a:gridCol w="142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Saved rev.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Net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Extreme users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8.7M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29.4M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2E8B45"/>
                          </a:solidFill>
                        </a:rPr>
                        <a:t>CHF +20.7M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Full base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52.5M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30.5M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C0392B"/>
                          </a:solidFill>
                        </a:rPr>
                        <a:t>CHF −22.0M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5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969D-5D2F-47D8-508B-FDEB00F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4E85-993F-1666-EF36-694AE21D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319149"/>
            <a:ext cx="10010988" cy="922749"/>
          </a:xfrm>
        </p:spPr>
        <p:txBody>
          <a:bodyPr vert="horz" lIns="0" tIns="0" rIns="0" bIns="43200" rtlCol="0" anchor="b" anchorCtr="0">
            <a:normAutofit/>
          </a:bodyPr>
          <a:lstStyle/>
          <a:p>
            <a:r>
              <a:rPr lang="en-GB" kern="1200" dirty="0">
                <a:latin typeface="+mj-lt"/>
                <a:ea typeface="+mj-ea"/>
                <a:cs typeface="+mj-cs"/>
              </a:rPr>
              <a:t>How much does the booster reduce cancelation?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691BC-5A29-3E7B-F139-0D81A7B9D67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408368" y="6308986"/>
            <a:ext cx="1807096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19.06.2026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A6F32-0E9C-80E7-FABB-63FF3E3B3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7988" y="6308987"/>
            <a:ext cx="4114800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0D54-4255-2CAC-D561-FE13F5DF23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18501" y="6308986"/>
            <a:ext cx="364299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622C71B-F0A5-40B6-B6DA-5780E9494F8A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BD0AE-6984-444E-A1E9-D61A8CD253E8}"/>
              </a:ext>
            </a:extLst>
          </p:cNvPr>
          <p:cNvSpPr txBox="1"/>
          <p:nvPr/>
        </p:nvSpPr>
        <p:spPr>
          <a:xfrm>
            <a:off x="457200" y="5663912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Two independent methods confirm: the booster effect is real, but substantially smaller than raw comparisons suggest.</a:t>
            </a:r>
          </a:p>
        </p:txBody>
      </p:sp>
      <p:sp>
        <p:nvSpPr>
          <p:cNvPr id="903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4" name="Graphic 90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6703546" y="2057400"/>
            <a:ext cx="3527896" cy="698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GB" sz="1400" dirty="0"/>
              <a:t>Logistic Regression (AME): </a:t>
            </a:r>
            <a:r>
              <a:rPr lang="en-GB" sz="1600" b="1" dirty="0">
                <a:solidFill>
                  <a:srgbClr val="2E8B45"/>
                </a:solidFill>
              </a:rPr>
              <a:t>−1.0 pp</a:t>
            </a:r>
          </a:p>
          <a:p>
            <a:pPr algn="l"/>
            <a:r>
              <a:rPr lang="en-GB" sz="1400" dirty="0"/>
              <a:t>Digital Twins (PSM, ATT): </a:t>
            </a:r>
            <a:r>
              <a:rPr lang="en-GB" sz="1600" b="1" dirty="0">
                <a:solidFill>
                  <a:srgbClr val="2E8B45"/>
                </a:solidFill>
              </a:rPr>
              <a:t>−1.6 pp</a:t>
            </a:r>
          </a:p>
        </p:txBody>
      </p:sp>
      <p:sp>
        <p:nvSpPr>
          <p:cNvPr id="61" name="Label Left"/>
          <p:cNvSpPr txBox="1"/>
          <p:nvPr/>
        </p:nvSpPr>
        <p:spPr>
          <a:xfrm>
            <a:off x="520700" y="1371600"/>
            <a:ext cx="43434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Overall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Raw averages — does not correct for self-selection</a:t>
            </a:r>
          </a:p>
        </p:txBody>
      </p:sp>
      <p:sp>
        <p:nvSpPr>
          <p:cNvPr id="62" name="Label Right"/>
          <p:cNvSpPr txBox="1"/>
          <p:nvPr/>
        </p:nvSpPr>
        <p:spPr>
          <a:xfrm>
            <a:off x="5422900" y="1371600"/>
            <a:ext cx="60960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Corrected (“Like-for-like”)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Two independent methods cross-check the estimate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E5F9DF-36CA-24C6-FE19-9A72C5916C12}"/>
              </a:ext>
            </a:extLst>
          </p:cNvPr>
          <p:cNvGrpSpPr/>
          <p:nvPr/>
        </p:nvGrpSpPr>
        <p:grpSpPr>
          <a:xfrm>
            <a:off x="5419494" y="2914769"/>
            <a:ext cx="6096000" cy="2316217"/>
            <a:chOff x="5419494" y="2914769"/>
            <a:chExt cx="6096000" cy="231621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B75B1B-048E-5633-5FC4-954568CB7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9494" y="3188826"/>
              <a:ext cx="6096000" cy="2042160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1AB4F2-48EE-C19B-AFE1-8F04EF20C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94503"/>
            <a:stretch/>
          </p:blipFill>
          <p:spPr>
            <a:xfrm>
              <a:off x="6096000" y="2914769"/>
              <a:ext cx="4343400" cy="16825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BA4042C-727A-875C-C3BD-3E50BB92F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" y="2292350"/>
            <a:ext cx="43434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7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965E-8DD5-0B4B-D1E7-36AF1774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7EFC5B-3774-9828-CCA6-81FD3C28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01" y="2244982"/>
            <a:ext cx="4645791" cy="3283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8938F-A81A-F40C-689C-9E99A9D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Heavy users self-select into the 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4CEA-F99B-E7D0-AA4F-929849C142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3393-CA11-F587-8193-7C63AD6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BE87C-4B93-8C4F-EFF2-5C71E4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88908-276D-34D6-4E8A-614938792381}"/>
              </a:ext>
            </a:extLst>
          </p:cNvPr>
          <p:cNvSpPr txBox="1"/>
          <p:nvPr/>
        </p:nvSpPr>
        <p:spPr>
          <a:xfrm>
            <a:off x="457200" y="5787023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Raw comparison is misleading — heavy users self-select into the booster, inflating expected benefit.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B1E6C-2F91-49B4-1BA3-539193F3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6" y="2267268"/>
            <a:ext cx="5988520" cy="32726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9746A-B76A-7131-ED12-F3C5F85B0371}"/>
              </a:ext>
            </a:extLst>
          </p:cNvPr>
          <p:cNvSpPr txBox="1"/>
          <p:nvPr/>
        </p:nvSpPr>
        <p:spPr>
          <a:xfrm>
            <a:off x="2898438" y="1535981"/>
            <a:ext cx="7734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</a:rPr>
              <a:t>The apparent overall benefit comes mostly from the fact that heavy users choose the booster.</a:t>
            </a:r>
            <a:endParaRPr lang="en-CZ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2DF75-E527-1651-DAB8-903245C329DA}"/>
              </a:ext>
            </a:extLst>
          </p:cNvPr>
          <p:cNvSpPr/>
          <p:nvPr/>
        </p:nvSpPr>
        <p:spPr>
          <a:xfrm>
            <a:off x="4223792" y="2541707"/>
            <a:ext cx="1152128" cy="1143827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352343-D58F-DC2C-1B41-27E7B76D9E7C}"/>
              </a:ext>
            </a:extLst>
          </p:cNvPr>
          <p:cNvSpPr/>
          <p:nvPr/>
        </p:nvSpPr>
        <p:spPr>
          <a:xfrm>
            <a:off x="9935244" y="2669770"/>
            <a:ext cx="1579235" cy="1579235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95A65-A7B8-4C9F-E443-43FD8E98911F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6765471" y="1843758"/>
            <a:ext cx="3959391" cy="826012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26BF1-489A-67B1-BB4D-DA5227FC81B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4799856" y="1843758"/>
            <a:ext cx="1965615" cy="697949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2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3" name="Graphic 90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8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0E63-4600-6179-C09C-24B1C5CE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A64E-CAD0-0C8D-11E0-21E9EF7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Extreme internet users drive the entire booster benefit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3F390-D270-5CFC-0B30-5AB48392A1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F9141-0696-EB8D-C723-ACA23C0E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D5DFB-36EB-B2F4-55AB-315D58333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8113E-96AD-8F49-A40F-1FE450B78641}"/>
              </a:ext>
            </a:extLst>
          </p:cNvPr>
          <p:cNvSpPr txBox="1"/>
          <p:nvPr/>
        </p:nvSpPr>
        <p:spPr>
          <a:xfrm>
            <a:off x="457200" y="5663913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Only Extreme internet users show a statistically significant effect — the other segments show no meaningful cancelation rate reduction.</a:t>
            </a:r>
          </a:p>
        </p:txBody>
      </p:sp>
      <p:sp>
        <p:nvSpPr>
          <p:cNvPr id="904" name="TakeawayBar">
            <a:extLst>
              <a:ext uri="{FF2B5EF4-FFF2-40B4-BE49-F238E27FC236}">
                <a16:creationId xmlns:a16="http://schemas.microsoft.com/office/drawing/2014/main" id="{7241D48A-8BC0-47D7-6886-420886D1B24B}"/>
              </a:ext>
            </a:extLst>
          </p:cNvPr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5" name="Graphic 905">
            <a:extLst>
              <a:ext uri="{FF2B5EF4-FFF2-40B4-BE49-F238E27FC236}">
                <a16:creationId xmlns:a16="http://schemas.microsoft.com/office/drawing/2014/main" id="{880C9F5F-8313-79FA-289E-85DEBFAB0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70" name="AME Explanation">
            <a:extLst>
              <a:ext uri="{FF2B5EF4-FFF2-40B4-BE49-F238E27FC236}">
                <a16:creationId xmlns:a16="http://schemas.microsoft.com/office/drawing/2014/main" id="{49B3AA65-8C49-2CFC-5A0F-37A1BAA6AAA0}"/>
              </a:ext>
            </a:extLst>
          </p:cNvPr>
          <p:cNvSpPr txBox="1"/>
          <p:nvPr/>
        </p:nvSpPr>
        <p:spPr>
          <a:xfrm>
            <a:off x="6871871" y="1867713"/>
            <a:ext cx="4275667" cy="1080120"/>
          </a:xfrm>
          <a:prstGeom prst="roundRect">
            <a:avLst>
              <a:gd name="adj" fmla="val 10000"/>
            </a:avLst>
          </a:prstGeom>
          <a:solidFill>
            <a:srgbClr val="D8CCBE"/>
          </a:solidFill>
          <a:ln w="12700">
            <a:solidFill>
              <a:srgbClr val="C4B5A5"/>
            </a:solidFill>
          </a:ln>
        </p:spPr>
        <p:txBody>
          <a:bodyPr wrap="square" lIns="91440" tIns="63500" rIns="91440" bIns="63500" rtlCol="0" anchor="t"/>
          <a:lstStyle/>
          <a:p>
            <a:pPr algn="l"/>
            <a:r>
              <a:rPr lang="en-GB" sz="1400" b="1" dirty="0"/>
              <a:t>AME (Average Marginal Effect)</a:t>
            </a:r>
            <a:r>
              <a:rPr lang="en-GB" sz="1400" dirty="0"/>
              <a:t> answers: “On average, how much does a cancelation probability change if the same customer has a booster vs. no booster, while everything else stays the same?”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C400A2-4DB5-2EE1-5A99-C3F0E73E9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575933"/>
              </p:ext>
            </p:extLst>
          </p:nvPr>
        </p:nvGraphicFramePr>
        <p:xfrm>
          <a:off x="6871870" y="3428999"/>
          <a:ext cx="4275668" cy="1371600"/>
        </p:xfrm>
        <a:graphic>
          <a:graphicData uri="http://schemas.openxmlformats.org/drawingml/2006/table">
            <a:tbl>
              <a:tblPr/>
              <a:tblGrid>
                <a:gridCol w="1528386">
                  <a:extLst>
                    <a:ext uri="{9D8B030D-6E8A-4147-A177-3AD203B41FA5}">
                      <a16:colId xmlns:a16="http://schemas.microsoft.com/office/drawing/2014/main" val="408675688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03415047"/>
                    </a:ext>
                  </a:extLst>
                </a:gridCol>
                <a:gridCol w="1379130">
                  <a:extLst>
                    <a:ext uri="{9D8B030D-6E8A-4147-A177-3AD203B41FA5}">
                      <a16:colId xmlns:a16="http://schemas.microsoft.com/office/drawing/2014/main" val="2754306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AME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1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Low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29.5k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−0.2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3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Medium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40.1k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+0.5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High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34.7k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0.0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1"/>
                        <a:t>Extreme usage</a:t>
                      </a:r>
                      <a:endParaRPr lang="en-GB" sz="120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20.7k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−6.6 pp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476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EF7C13A-3E27-011D-2D2F-FEABC8197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41482"/>
            <a:ext cx="5611812" cy="397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1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4C7-5188-27CD-B795-B6A3EFD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4D95-34B0-F58E-CB7E-E25CD1A9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Targeted vs. blanket: CHF +20.7M vs. CHF −22M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4D85D-5907-034C-6710-1B441A1652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A5EEA-A88A-B94C-359B-E9083A8D5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F664-7F62-2318-2CB1-EB182C1C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C2A9-5CE5-7AD6-3489-531FC80A7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9"/>
          <a:stretch/>
        </p:blipFill>
        <p:spPr>
          <a:xfrm>
            <a:off x="850333" y="1844824"/>
            <a:ext cx="10346178" cy="38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1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E81C00-B661-E944-868F-01142C36801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ad1118b-6384-4767-a243-7358d8644ea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9293</TotalTime>
  <Words>326</Words>
  <Application>Microsoft Macintosh PowerPoint</Application>
  <PresentationFormat>Widescreen</PresentationFormat>
  <Paragraphs>65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GmbH_Sunrise</vt:lpstr>
      <vt:lpstr>GmbH_Sunrise</vt:lpstr>
      <vt:lpstr>think-cell Slide</vt:lpstr>
      <vt:lpstr>WiFi Booster Impact</vt:lpstr>
      <vt:lpstr>Executive Summary: Targeted rollout unlocks CHF +20.7M</vt:lpstr>
      <vt:lpstr>How much does the booster reduce cancelation?</vt:lpstr>
      <vt:lpstr>Heavy users self-select into the booster</vt:lpstr>
      <vt:lpstr>Extreme internet users drive the entire booster benefit</vt:lpstr>
      <vt:lpstr>Targeted vs. blanket: CHF +20.7M vs. CHF −22M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38</cp:revision>
  <dcterms:created xsi:type="dcterms:W3CDTF">2026-05-26T15:46:55Z</dcterms:created>
  <dcterms:modified xsi:type="dcterms:W3CDTF">2026-06-19T07:18:45Z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