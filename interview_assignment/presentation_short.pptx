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  <p:sldMasterId id="2147483902" r:id="rId5"/>
  </p:sldMasterIdLst>
  <p:notesMasterIdLst>
    <p:notesMasterId r:id="rId13"/>
  </p:notesMasterIdLst>
  <p:sldIdLst>
    <p:sldId id="256" r:id="rId6"/>
    <p:sldId id="2147474698" r:id="rId7"/>
    <p:sldId id="2147474701" r:id="rId8"/>
    <p:sldId id="2147474689" r:id="rId9"/>
    <p:sldId id="2147474707" r:id="rId10"/>
    <p:sldId id="2147474685" r:id="rId11"/>
    <p:sldId id="2147474626" r:id="rId12"/>
  </p:sldIdLst>
  <p:sldSz cx="12192000" cy="6858000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17" autoAdjust="0"/>
    <p:restoredTop sz="94655" autoAdjust="0"/>
  </p:normalViewPr>
  <p:slideViewPr>
    <p:cSldViewPr showGuides="1">
      <p:cViewPr varScale="1">
        <p:scale>
          <a:sx n="109" d="100"/>
          <a:sy n="109" d="100"/>
        </p:scale>
        <p:origin x="200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19.06.26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38" r:id="rId36"/>
    <p:sldLayoutId id="2147483939" r:id="rId37"/>
    <p:sldLayoutId id="2147483940" r:id="rId38"/>
    <p:sldLayoutId id="2147483941" r:id="rId39"/>
    <p:sldLayoutId id="2147483942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Executive Summary: </a:t>
            </a:r>
            <a:r>
              <a:rPr lang="en-GB" sz="2400" dirty="0"/>
              <a:t>Targeted rollout unlocks CHF +20.7M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457200" y="2620888"/>
            <a:ext cx="5854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Roll out booster to Extreme internet users</a:t>
            </a:r>
            <a:endParaRPr lang="en-GB" b="1" dirty="0">
              <a:solidFill>
                <a:srgbClr val="C0392B"/>
              </a:solidFill>
              <a:latin typeface="Arial"/>
            </a:endParaRPr>
          </a:p>
          <a:p>
            <a:r>
              <a:rPr lang="en-GB" b="1" dirty="0">
                <a:solidFill>
                  <a:srgbClr val="C0392B"/>
                </a:solidFill>
                <a:latin typeface="Arial"/>
              </a:rPr>
              <a:t>✗  </a:t>
            </a:r>
            <a:r>
              <a:rPr lang="en-GB" dirty="0"/>
              <a:t>Do not extend to full customer base</a:t>
            </a:r>
          </a:p>
          <a:p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Validate with a randomized A/B test before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457200" y="5787022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Extreme users capture 96% of the saved revenue at 17% of the cost.</a:t>
            </a:r>
          </a:p>
        </p:txBody>
      </p:sp>
      <p:sp>
        <p:nvSpPr>
          <p:cNvPr id="901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02" name="Graphic 90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69517"/>
              </p:ext>
            </p:extLst>
          </p:nvPr>
        </p:nvGraphicFramePr>
        <p:xfrm>
          <a:off x="6667500" y="2620888"/>
          <a:ext cx="4749800" cy="1600200"/>
        </p:xfrm>
        <a:graphic>
          <a:graphicData uri="http://schemas.openxmlformats.org/drawingml/2006/table">
            <a:tbl>
              <a:tblPr firstRow="1" bandRow="1"/>
              <a:tblGrid>
                <a:gridCol w="14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Saved rev.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Net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Extreme users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8.7M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29.4M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2E8B45"/>
                          </a:solidFill>
                        </a:rPr>
                        <a:t>CHF +20.7M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Full base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52.5M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30.5M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C0392B"/>
                          </a:solidFill>
                        </a:rPr>
                        <a:t>CHF −22.0M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5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319149"/>
            <a:ext cx="10010988" cy="922749"/>
          </a:xfrm>
        </p:spPr>
        <p:txBody>
          <a:bodyPr vert="horz" lIns="0" tIns="0" rIns="0" bIns="43200" rtlCol="0" anchor="b" anchorCtr="0">
            <a:normAutofit/>
          </a:bodyPr>
          <a:lstStyle/>
          <a:p>
            <a:r>
              <a:rPr lang="en-GB" kern="1200" dirty="0">
                <a:latin typeface="+mj-lt"/>
                <a:ea typeface="+mj-ea"/>
                <a:cs typeface="+mj-cs"/>
              </a:rPr>
              <a:t>How much does the booster reduce cancelation?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408368" y="6308986"/>
            <a:ext cx="1807096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19.06.2026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7988" y="6308987"/>
            <a:ext cx="4114800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8501" y="6308986"/>
            <a:ext cx="364299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622C71B-F0A5-40B6-B6DA-5780E9494F8A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BD0AE-6984-444E-A1E9-D61A8CD253E8}"/>
              </a:ext>
            </a:extLst>
          </p:cNvPr>
          <p:cNvSpPr txBox="1"/>
          <p:nvPr/>
        </p:nvSpPr>
        <p:spPr>
          <a:xfrm>
            <a:off x="457200" y="5663912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Two independent methods confirm: the booster effect is real, but substantially smaller than raw comparisons suggest.</a:t>
            </a:r>
          </a:p>
        </p:txBody>
      </p:sp>
      <p:sp>
        <p:nvSpPr>
          <p:cNvPr id="903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4" name="Graphic 90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6096000" y="2057400"/>
            <a:ext cx="4135442" cy="698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GB" sz="1400" dirty="0"/>
              <a:t>Logistic Regression (AME): </a:t>
            </a:r>
            <a:r>
              <a:rPr lang="en-GB" sz="1600" b="1" dirty="0">
                <a:solidFill>
                  <a:srgbClr val="2E8B45"/>
                </a:solidFill>
              </a:rPr>
              <a:t>−1.0 pp</a:t>
            </a:r>
          </a:p>
          <a:p>
            <a:pPr algn="l"/>
            <a:r>
              <a:rPr lang="en-GB" sz="1400" dirty="0"/>
              <a:t>Digital Twins (PSM, ATT): </a:t>
            </a:r>
            <a:r>
              <a:rPr lang="en-GB" sz="1600" b="1" dirty="0">
                <a:solidFill>
                  <a:srgbClr val="2E8B45"/>
                </a:solidFill>
              </a:rPr>
              <a:t>−1.6 pp</a:t>
            </a:r>
          </a:p>
        </p:txBody>
      </p:sp>
      <p:sp>
        <p:nvSpPr>
          <p:cNvPr id="61" name="Label Left"/>
          <p:cNvSpPr txBox="1"/>
          <p:nvPr/>
        </p:nvSpPr>
        <p:spPr>
          <a:xfrm>
            <a:off x="520700" y="1371600"/>
            <a:ext cx="43434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Overall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Raw averages — does not correct for self-selection</a:t>
            </a:r>
          </a:p>
        </p:txBody>
      </p:sp>
      <p:sp>
        <p:nvSpPr>
          <p:cNvPr id="62" name="Label Right"/>
          <p:cNvSpPr txBox="1"/>
          <p:nvPr/>
        </p:nvSpPr>
        <p:spPr>
          <a:xfrm>
            <a:off x="5422900" y="1371600"/>
            <a:ext cx="60960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Corrected (“Like-for-like”)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Two independent methods cross-check the estimate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E5F9DF-36CA-24C6-FE19-9A72C5916C12}"/>
              </a:ext>
            </a:extLst>
          </p:cNvPr>
          <p:cNvGrpSpPr/>
          <p:nvPr/>
        </p:nvGrpSpPr>
        <p:grpSpPr>
          <a:xfrm>
            <a:off x="5419494" y="2914769"/>
            <a:ext cx="6096000" cy="2316217"/>
            <a:chOff x="5419494" y="2914769"/>
            <a:chExt cx="6096000" cy="23162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B75B1B-048E-5633-5FC4-954568CB7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9494" y="3188826"/>
              <a:ext cx="6096000" cy="2042160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1AB4F2-48EE-C19B-AFE1-8F04EF20C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94503"/>
            <a:stretch/>
          </p:blipFill>
          <p:spPr>
            <a:xfrm>
              <a:off x="6096000" y="2914769"/>
              <a:ext cx="4343400" cy="1682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4042C-727A-875C-C3BD-3E50BB92F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2292350"/>
            <a:ext cx="43434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7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7EFC5B-3774-9828-CCA6-81FD3C28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01" y="2244982"/>
            <a:ext cx="4645791" cy="3283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457200" y="5787023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Raw comparison is misleading — heavy users self-select into the booster, inflating expected benefit.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267268"/>
            <a:ext cx="5988520" cy="32726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8" y="1535981"/>
            <a:ext cx="7734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</a:rPr>
              <a:t>The apparent overall benefit comes mostly from the fact that heavy users choose the booster.</a:t>
            </a:r>
            <a:endParaRPr lang="en-CZ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4223792" y="2541707"/>
            <a:ext cx="1152128" cy="1143827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9935244" y="2669770"/>
            <a:ext cx="1579235" cy="1579235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6765471" y="1843758"/>
            <a:ext cx="3959391" cy="826012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799856" y="1843758"/>
            <a:ext cx="1965615" cy="697949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3" name="Graphic 90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8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022A-5934-9783-C1D8-26425E48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58FE-04F9-98F2-5474-ED1478DB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Extreme internet users drive the entire booster effect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40869-E258-6877-0683-D28F933576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DEEC1-F88F-4710-C71E-5945F55C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739FD-1F53-A52B-00DF-005E807A4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A2512-2424-480D-4268-CA405601465D}"/>
              </a:ext>
            </a:extLst>
          </p:cNvPr>
          <p:cNvSpPr txBox="1"/>
          <p:nvPr/>
        </p:nvSpPr>
        <p:spPr>
          <a:xfrm>
            <a:off x="457200" y="5663913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Only Extreme internet users show a statistically significant effect — the other segments show no meaningful cancelation rate reduction.</a:t>
            </a:r>
          </a:p>
        </p:txBody>
      </p:sp>
      <p:sp>
        <p:nvSpPr>
          <p:cNvPr id="904" name="TakeawayBar">
            <a:extLst>
              <a:ext uri="{FF2B5EF4-FFF2-40B4-BE49-F238E27FC236}">
                <a16:creationId xmlns:a16="http://schemas.microsoft.com/office/drawing/2014/main" id="{861D0E59-1167-B04A-FFDE-0D44E8668537}"/>
              </a:ext>
            </a:extLst>
          </p:cNvPr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5" name="Graphic 905">
            <a:extLst>
              <a:ext uri="{FF2B5EF4-FFF2-40B4-BE49-F238E27FC236}">
                <a16:creationId xmlns:a16="http://schemas.microsoft.com/office/drawing/2014/main" id="{08C6CE3F-8433-C733-79E2-494AEB0AA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70" name="AME Explanation">
            <a:extLst>
              <a:ext uri="{FF2B5EF4-FFF2-40B4-BE49-F238E27FC236}">
                <a16:creationId xmlns:a16="http://schemas.microsoft.com/office/drawing/2014/main" id="{424D3A4A-4012-A739-8C44-AB5F8352FE91}"/>
              </a:ext>
            </a:extLst>
          </p:cNvPr>
          <p:cNvSpPr txBox="1"/>
          <p:nvPr/>
        </p:nvSpPr>
        <p:spPr>
          <a:xfrm>
            <a:off x="6871871" y="1867712"/>
            <a:ext cx="4275667" cy="1273256"/>
          </a:xfrm>
          <a:prstGeom prst="roundRect">
            <a:avLst>
              <a:gd name="adj" fmla="val 10000"/>
            </a:avLst>
          </a:prstGeom>
          <a:solidFill>
            <a:srgbClr val="D8CCBE"/>
          </a:solidFill>
          <a:ln w="12700">
            <a:solidFill>
              <a:srgbClr val="C4B5A5"/>
            </a:solidFill>
          </a:ln>
        </p:spPr>
        <p:txBody>
          <a:bodyPr wrap="square" lIns="91440" tIns="63500" rIns="91440" bIns="63500" rtlCol="0" anchor="t"/>
          <a:lstStyle/>
          <a:p>
            <a:pPr algn="l"/>
            <a:r>
              <a:rPr lang="en-GB" sz="1400" b="1" dirty="0"/>
              <a:t>HTE (Heterogeneous Treatment Effect)</a:t>
            </a:r>
            <a:r>
              <a:rPr lang="en-GB" sz="1400" dirty="0"/>
              <a:t> answers: “For a customer with specific characteristics, how much does a cancelation probability change if that customer has or has not a booster, while everything else stays the same?”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53BB25-CC90-80FE-4E80-198DC06FCFF0}"/>
              </a:ext>
            </a:extLst>
          </p:cNvPr>
          <p:cNvGraphicFramePr>
            <a:graphicFrameLocks noGrp="1"/>
          </p:cNvGraphicFramePr>
          <p:nvPr/>
        </p:nvGraphicFramePr>
        <p:xfrm>
          <a:off x="6871870" y="3576364"/>
          <a:ext cx="4275668" cy="1371600"/>
        </p:xfrm>
        <a:graphic>
          <a:graphicData uri="http://schemas.openxmlformats.org/drawingml/2006/table">
            <a:tbl>
              <a:tblPr/>
              <a:tblGrid>
                <a:gridCol w="1528386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1379130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AME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Low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24%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−0.2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Medium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34%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+0.5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High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/>
                        <a:t>28%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0.0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1"/>
                        <a:t>Extreme usage</a:t>
                      </a:r>
                      <a:endParaRPr lang="en-GB" sz="120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17%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−6.6 pp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5BF7033-7FD9-5104-8AF2-BE6456F78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402236"/>
            <a:ext cx="5722627" cy="40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1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Targeted vs. blanket: CHF +20.7M vs. CHF −22M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E81C00-B661-E944-868F-01142C36801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ad1118b-6384-4767-a243-7358d8644ea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9305</TotalTime>
  <Words>332</Words>
  <Application>Microsoft Macintosh PowerPoint</Application>
  <PresentationFormat>Widescreen</PresentationFormat>
  <Paragraphs>65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GmbH_Sunrise</vt:lpstr>
      <vt:lpstr>GmbH_Sunrise</vt:lpstr>
      <vt:lpstr>think-cell Slide</vt:lpstr>
      <vt:lpstr>WiFi Booster Impact</vt:lpstr>
      <vt:lpstr>Executive Summary: Targeted rollout unlocks CHF +20.7M</vt:lpstr>
      <vt:lpstr>How much does the booster reduce cancelation?</vt:lpstr>
      <vt:lpstr>Heavy users self-select into the booster</vt:lpstr>
      <vt:lpstr>Extreme internet users drive the entire booster effect</vt:lpstr>
      <vt:lpstr>Targeted vs. blanket: CHF +20.7M vs. CHF −22M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42</cp:revision>
  <dcterms:created xsi:type="dcterms:W3CDTF">2026-05-26T15:46:55Z</dcterms:created>
  <dcterms:modified xsi:type="dcterms:W3CDTF">2026-06-19T08:27:03Z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