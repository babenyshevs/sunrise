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0" r:id="rId4"/>
    <p:sldMasterId id="2147483902" r:id="rId5"/>
  </p:sldMasterIdLst>
  <p:notesMasterIdLst>
    <p:notesMasterId r:id="rId21"/>
  </p:notesMasterIdLst>
  <p:sldIdLst>
    <p:sldId id="256" r:id="rId6"/>
    <p:sldId id="2147474698" r:id="rId7"/>
    <p:sldId id="2147474701" r:id="rId8"/>
    <p:sldId id="2147474689" r:id="rId9"/>
    <p:sldId id="2147474724" r:id="rId10"/>
    <p:sldId id="2147474685" r:id="rId11"/>
    <p:sldId id="2147474629" r:id="rId12"/>
    <p:sldId id="2147474717" r:id="rId13"/>
    <p:sldId id="2147474719" r:id="rId14"/>
    <p:sldId id="2147474718" r:id="rId15"/>
    <p:sldId id="2147474720" r:id="rId16"/>
    <p:sldId id="2147474721" r:id="rId17"/>
    <p:sldId id="2147474722" r:id="rId18"/>
    <p:sldId id="2147474723" r:id="rId19"/>
    <p:sldId id="2147474626" r:id="rId20"/>
  </p:sldIdLst>
  <p:sldSz cx="12192000" cy="6858000"/>
  <p:notesSz cx="6858000" cy="9144000"/>
  <p:custDataLst>
    <p:tags r:id="rId2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91C"/>
    <a:srgbClr val="DA192C"/>
    <a:srgbClr val="F0EEEC"/>
    <a:srgbClr val="E6E3DF"/>
    <a:srgbClr val="77E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FFFF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012ECD-51FC-FFFF-AA8D-1B2483CD663E}" styleName="SUNRIS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</a:tcStyle>
    </a:lastRow>
    <a:firstRow>
      <a:tcTxStyle b="on">
        <a:fontRef idx="major">
          <a:scrgbClr r="255" g="255" b="255"/>
        </a:fontRef>
        <a:schemeClr val="lt1"/>
      </a:tcTxStyle>
      <a:tcStyle>
        <a:tcBdr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</a:tcBdr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16" autoAdjust="0"/>
    <p:restoredTop sz="94655" autoAdjust="0"/>
  </p:normalViewPr>
  <p:slideViewPr>
    <p:cSldViewPr showGuides="1">
      <p:cViewPr varScale="1">
        <p:scale>
          <a:sx n="115" d="100"/>
          <a:sy n="115" d="100"/>
        </p:scale>
        <p:origin x="448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ämmel, Klaus" userId="21c347ad-9fe7-405b-8352-d0801ef57c0d" providerId="ADAL" clId="{1CCC952E-8CA9-405E-BB06-88E1DD7F6781}"/>
    <pc:docChg chg="delSld">
      <pc:chgData name="Lämmel, Klaus" userId="21c347ad-9fe7-405b-8352-d0801ef57c0d" providerId="ADAL" clId="{1CCC952E-8CA9-405E-BB06-88E1DD7F6781}" dt="2026-06-02T09:45:28.075" v="0" actId="47"/>
      <pc:docMkLst>
        <pc:docMk/>
      </pc:docMkLst>
      <pc:sldChg chg="del">
        <pc:chgData name="Lämmel, Klaus" userId="21c347ad-9fe7-405b-8352-d0801ef57c0d" providerId="ADAL" clId="{1CCC952E-8CA9-405E-BB06-88E1DD7F6781}" dt="2026-06-02T09:45:28.075" v="0" actId="47"/>
        <pc:sldMkLst>
          <pc:docMk/>
          <pc:sldMk cId="3553195333" sldId="214747464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074E5-F24B-4253-A921-8FC4C04D927C}" type="datetimeFigureOut">
              <a:rPr lang="de-DE" smtClean="0"/>
              <a:t>19.06.26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06E30-3B85-405A-919E-77A48A946BF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9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svg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orient="horz" pos="984">
          <p15:clr>
            <a:srgbClr val="FBAE40"/>
          </p15:clr>
        </p15:guide>
        <p15:guide id="12" orient="horz" pos="784">
          <p15:clr>
            <a:srgbClr val="FBAE40"/>
          </p15:clr>
        </p15:guide>
        <p15:guide id="13" pos="3946">
          <p15:clr>
            <a:srgbClr val="FBAE40"/>
          </p15:clr>
        </p15:guide>
        <p15:guide id="14" orient="horz" pos="3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4" pos="3840" userDrawn="1">
          <p15:clr>
            <a:srgbClr val="FBAE40"/>
          </p15:clr>
        </p15:guide>
        <p15:guide id="25" orient="horz" pos="890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orient="horz" pos="1071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  <p15:guide id="27" orient="horz" pos="93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9" orient="horz" pos="890" userDrawn="1">
          <p15:clr>
            <a:srgbClr val="FBAE40"/>
          </p15:clr>
        </p15:guide>
        <p15:guide id="20" orient="horz" pos="70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1071" userDrawn="1">
          <p15:clr>
            <a:srgbClr val="FBAE40"/>
          </p15:clr>
        </p15:guide>
        <p15:guide id="24" orient="horz" pos="935" userDrawn="1">
          <p15:clr>
            <a:srgbClr val="FBAE40"/>
          </p15:clr>
        </p15:guide>
        <p15:guide id="25" orient="horz" pos="70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9" orient="horz" pos="890" userDrawn="1">
          <p15:clr>
            <a:srgbClr val="FBAE40"/>
          </p15:clr>
        </p15:guide>
        <p15:guide id="30" pos="3749" userDrawn="1">
          <p15:clr>
            <a:srgbClr val="FBAE40"/>
          </p15:clr>
        </p15:guide>
        <p15:guide id="31" pos="3931" userDrawn="1">
          <p15:clr>
            <a:srgbClr val="FBAE40"/>
          </p15:clr>
        </p15:guide>
        <p15:guide id="32" orient="horz" pos="7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2" orient="horz" pos="1071" userDrawn="1">
          <p15:clr>
            <a:srgbClr val="FBAE40"/>
          </p15:clr>
        </p15:guide>
        <p15:guide id="33" pos="3749" userDrawn="1">
          <p15:clr>
            <a:srgbClr val="FBAE40"/>
          </p15:clr>
        </p15:guide>
        <p15:guide id="34" pos="3931" userDrawn="1">
          <p15:clr>
            <a:srgbClr val="FBAE40"/>
          </p15:clr>
        </p15:guide>
        <p15:guide id="35" orient="horz" pos="709" userDrawn="1">
          <p15:clr>
            <a:srgbClr val="FBAE40"/>
          </p15:clr>
        </p15:guide>
        <p15:guide id="36" orient="horz" pos="93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3522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4158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1" orient="horz" pos="2160" userDrawn="1">
          <p15:clr>
            <a:srgbClr val="FBAE40"/>
          </p15:clr>
        </p15:guide>
        <p15:guide id="42" orient="horz" pos="890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" orient="horz" pos="1071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  <p15:guide id="48" orient="horz" pos="9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8" orient="horz" pos="1207" userDrawn="1">
          <p15:clr>
            <a:srgbClr val="FBAE40"/>
          </p15:clr>
        </p15:guide>
        <p15:guide id="39" pos="2570" userDrawn="1">
          <p15:clr>
            <a:srgbClr val="FBAE40"/>
          </p15:clr>
        </p15:guide>
        <p15:guide id="40" pos="2683" userDrawn="1">
          <p15:clr>
            <a:srgbClr val="FBAE40"/>
          </p15:clr>
        </p15:guide>
        <p15:guide id="41" pos="4997" userDrawn="1">
          <p15:clr>
            <a:srgbClr val="FBAE40"/>
          </p15:clr>
        </p15:guide>
        <p15:guide id="42" pos="5110" userDrawn="1">
          <p15:clr>
            <a:srgbClr val="FBAE40"/>
          </p15:clr>
        </p15:guide>
        <p15:guide id="43" orient="horz" pos="7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pos="3840" userDrawn="1">
          <p15:clr>
            <a:srgbClr val="FBAE40"/>
          </p15:clr>
        </p15:guide>
        <p15:guide id="21" orient="horz" pos="890" userDrawn="1">
          <p15:clr>
            <a:srgbClr val="FBAE40"/>
          </p15:clr>
        </p15:guide>
        <p15:guide id="22" orient="horz" pos="7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orient="horz" pos="1616" userDrawn="1">
          <p15:clr>
            <a:srgbClr val="FBAE40"/>
          </p15:clr>
        </p15:guide>
        <p15:guide id="16" orient="horz" pos="270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47" Type="http://schemas.openxmlformats.org/officeDocument/2006/relationships/tags" Target="../tags/tag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6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oleObject" Target="../embeddings/oleObject2.bin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slideLayout" Target="../slideLayouts/slideLayout80.xml"/><Relationship Id="rId45" Type="http://schemas.openxmlformats.org/officeDocument/2006/relationships/image" Target="../media/image3.sv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60.xml"/><Relationship Id="rId4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DF8B29-66A3-8278-083B-92F57A931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  <p:sldLayoutId id="2147483881" r:id="rId21"/>
    <p:sldLayoutId id="2147483882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93" r:id="rId32"/>
    <p:sldLayoutId id="2147483894" r:id="rId33"/>
    <p:sldLayoutId id="2147483895" r:id="rId34"/>
    <p:sldLayoutId id="2147483896" r:id="rId35"/>
    <p:sldLayoutId id="2147483897" r:id="rId36"/>
    <p:sldLayoutId id="2147483898" r:id="rId37"/>
    <p:sldLayoutId id="2147483899" r:id="rId38"/>
    <p:sldLayoutId id="2147483900" r:id="rId39"/>
    <p:sldLayoutId id="2147483901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8" pos="257" userDrawn="1">
          <p15:clr>
            <a:srgbClr val="F26B43"/>
          </p15:clr>
        </p15:guide>
        <p15:guide id="29" pos="7423" userDrawn="1">
          <p15:clr>
            <a:srgbClr val="F26B43"/>
          </p15:clr>
        </p15:guide>
        <p15:guide id="30" orient="horz" pos="164" userDrawn="1">
          <p15:clr>
            <a:srgbClr val="F26B43"/>
          </p15:clr>
        </p15:guide>
        <p15:guide id="31" orient="horz" pos="38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DF8B29-66A3-8278-083B-92F57A931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  <p:sldLayoutId id="2147483924" r:id="rId22"/>
    <p:sldLayoutId id="2147483925" r:id="rId23"/>
    <p:sldLayoutId id="2147483926" r:id="rId24"/>
    <p:sldLayoutId id="2147483927" r:id="rId25"/>
    <p:sldLayoutId id="2147483928" r:id="rId26"/>
    <p:sldLayoutId id="2147483929" r:id="rId27"/>
    <p:sldLayoutId id="2147483930" r:id="rId28"/>
    <p:sldLayoutId id="2147483931" r:id="rId29"/>
    <p:sldLayoutId id="2147483932" r:id="rId30"/>
    <p:sldLayoutId id="2147483933" r:id="rId31"/>
    <p:sldLayoutId id="2147483934" r:id="rId32"/>
    <p:sldLayoutId id="2147483935" r:id="rId33"/>
    <p:sldLayoutId id="2147483936" r:id="rId34"/>
    <p:sldLayoutId id="2147483937" r:id="rId35"/>
    <p:sldLayoutId id="2147483938" r:id="rId36"/>
    <p:sldLayoutId id="2147483939" r:id="rId37"/>
    <p:sldLayoutId id="2147483940" r:id="rId38"/>
    <p:sldLayoutId id="2147483941" r:id="rId39"/>
    <p:sldLayoutId id="2147483942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5.sv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3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3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3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34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B7160-ADC6-2DDB-4197-C70837C70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WiFi</a:t>
            </a:r>
            <a:r>
              <a:rPr lang="en-GB" dirty="0"/>
              <a:t> Booster Impact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A40CC7-1004-6602-7F83-0795C5B73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Stanislav </a:t>
            </a:r>
            <a:r>
              <a:rPr lang="en-GB" dirty="0" err="1"/>
              <a:t>Babenyshev</a:t>
            </a:r>
            <a:endParaRPr lang="en-GB" dirty="0"/>
          </a:p>
          <a:p>
            <a:r>
              <a:rPr lang="en-GB" dirty="0"/>
              <a:t>19.06.2026</a:t>
            </a:r>
          </a:p>
        </p:txBody>
      </p:sp>
    </p:spTree>
    <p:extLst>
      <p:ext uri="{BB962C8B-B14F-4D97-AF65-F5344CB8AC3E}">
        <p14:creationId xmlns:p14="http://schemas.microsoft.com/office/powerpoint/2010/main" val="274913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73CA-C871-6357-B2F3-35A6ABAE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3B06-5A28-1880-7E39-51BB8D5B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Executive Summary: </a:t>
            </a:r>
            <a:r>
              <a:rPr lang="en-GB" sz="2400" dirty="0"/>
              <a:t>Targeted rollout unlocks CHF +20.7M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B9F99-1057-0A04-4234-12F3858D843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8D50F-3FC2-DB86-2FEB-68D62C6BE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8681A-CA9A-2ECC-969B-110DC936B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BF8BC-788D-B39C-C722-DF5742230246}"/>
              </a:ext>
            </a:extLst>
          </p:cNvPr>
          <p:cNvSpPr txBox="1"/>
          <p:nvPr/>
        </p:nvSpPr>
        <p:spPr>
          <a:xfrm>
            <a:off x="457200" y="2620888"/>
            <a:ext cx="5854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/>
              <a:t>Recommendation</a:t>
            </a:r>
          </a:p>
          <a:p>
            <a:pPr algn="l"/>
            <a:r>
              <a:rPr lang="en-GB" b="1" dirty="0">
                <a:solidFill>
                  <a:srgbClr val="2E8B45"/>
                </a:solidFill>
                <a:latin typeface="Arial"/>
              </a:rPr>
              <a:t>✓  </a:t>
            </a:r>
            <a:r>
              <a:rPr lang="en-GB" dirty="0"/>
              <a:t>Roll out booster to Extreme internet users</a:t>
            </a:r>
            <a:endParaRPr lang="en-GB" b="1" dirty="0">
              <a:solidFill>
                <a:srgbClr val="C0392B"/>
              </a:solidFill>
              <a:latin typeface="Arial"/>
            </a:endParaRPr>
          </a:p>
          <a:p>
            <a:r>
              <a:rPr lang="en-GB" b="1" dirty="0">
                <a:solidFill>
                  <a:srgbClr val="C0392B"/>
                </a:solidFill>
                <a:latin typeface="Arial"/>
              </a:rPr>
              <a:t>✗  </a:t>
            </a:r>
            <a:r>
              <a:rPr lang="en-GB" dirty="0"/>
              <a:t>Do not extend to full customer base</a:t>
            </a:r>
          </a:p>
          <a:p>
            <a:r>
              <a:rPr lang="en-GB" b="1" dirty="0">
                <a:solidFill>
                  <a:srgbClr val="2E8B45"/>
                </a:solidFill>
                <a:latin typeface="Arial"/>
              </a:rPr>
              <a:t>✓  </a:t>
            </a:r>
            <a:r>
              <a:rPr lang="en-GB" dirty="0"/>
              <a:t>Validate with a randomized A/B test before scaling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78F14-938B-1987-447D-B756AB9997F7}"/>
              </a:ext>
            </a:extLst>
          </p:cNvPr>
          <p:cNvSpPr txBox="1"/>
          <p:nvPr/>
        </p:nvSpPr>
        <p:spPr>
          <a:xfrm>
            <a:off x="457200" y="5787022"/>
            <a:ext cx="11277600" cy="338554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Extreme users capture 96% of the saved revenue at 17% of the cost.</a:t>
            </a:r>
          </a:p>
        </p:txBody>
      </p:sp>
      <p:sp>
        <p:nvSpPr>
          <p:cNvPr id="901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02" name="Graphic 90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graphicFrame>
        <p:nvGraphicFramePr>
          <p:cNvPr id="50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2695"/>
              </p:ext>
            </p:extLst>
          </p:nvPr>
        </p:nvGraphicFramePr>
        <p:xfrm>
          <a:off x="6312024" y="2620888"/>
          <a:ext cx="5004982" cy="1200329"/>
        </p:xfrm>
        <a:graphic>
          <a:graphicData uri="http://schemas.openxmlformats.org/drawingml/2006/table">
            <a:tbl>
              <a:tblPr firstRow="1" bandRow="1"/>
              <a:tblGrid>
                <a:gridCol w="1431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51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Saved rev.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Net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89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/>
                        <a:t>Extreme users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8.7M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29.4M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2E8B45"/>
                          </a:solidFill>
                        </a:rPr>
                        <a:t>CHF +20.7M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89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/>
                        <a:t>Full base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52.5M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30.5M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C0392B"/>
                          </a:solidFill>
                        </a:rPr>
                        <a:t>CHF −22.0M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85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969D-5D2F-47D8-508B-FDEB00FA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F4E85-993F-1666-EF36-694AE21D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319149"/>
            <a:ext cx="10010988" cy="922749"/>
          </a:xfrm>
        </p:spPr>
        <p:txBody>
          <a:bodyPr vert="horz" lIns="0" tIns="0" rIns="0" bIns="43200" rtlCol="0" anchor="b" anchorCtr="0">
            <a:normAutofit/>
          </a:bodyPr>
          <a:lstStyle/>
          <a:p>
            <a:r>
              <a:rPr lang="en-GB" kern="1200" dirty="0">
                <a:latin typeface="+mj-lt"/>
                <a:ea typeface="+mj-ea"/>
                <a:cs typeface="+mj-cs"/>
              </a:rPr>
              <a:t>How much does the booster reduce cancelation?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691BC-5A29-3E7B-F139-0D81A7B9D67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408368" y="6308986"/>
            <a:ext cx="1807096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19.06.2026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A6F32-0E9C-80E7-FABB-63FF3E3B3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07988" y="6308987"/>
            <a:ext cx="4114800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>
                <a:latin typeface="+mn-lt"/>
                <a:ea typeface="+mn-ea"/>
                <a:cs typeface="+mn-cs"/>
              </a:rPr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00D54-4255-2CAC-D561-FE13F5DF23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18501" y="6308986"/>
            <a:ext cx="364299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622C71B-F0A5-40B6-B6DA-5780E9494F8A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BD0AE-6984-444E-A1E9-D61A8CD253E8}"/>
              </a:ext>
            </a:extLst>
          </p:cNvPr>
          <p:cNvSpPr txBox="1"/>
          <p:nvPr/>
        </p:nvSpPr>
        <p:spPr>
          <a:xfrm>
            <a:off x="457200" y="5663912"/>
            <a:ext cx="11277600" cy="584775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Two independent methods confirm: the booster effect is real, but substantially smaller than raw comparisons suggest.</a:t>
            </a:r>
          </a:p>
        </p:txBody>
      </p:sp>
      <p:sp>
        <p:nvSpPr>
          <p:cNvPr id="903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4" name="Graphic 90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6703546" y="2057400"/>
            <a:ext cx="3527896" cy="698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Aft>
                <a:spcPts val="200"/>
              </a:spcAft>
            </a:pPr>
            <a:r>
              <a:rPr lang="en-GB" sz="1400" dirty="0"/>
              <a:t>Logistic Regression (AME): </a:t>
            </a:r>
            <a:r>
              <a:rPr lang="en-GB" sz="1600" b="1" dirty="0">
                <a:solidFill>
                  <a:srgbClr val="2E8B45"/>
                </a:solidFill>
              </a:rPr>
              <a:t>−1.0 pp</a:t>
            </a:r>
          </a:p>
          <a:p>
            <a:pPr algn="l"/>
            <a:r>
              <a:rPr lang="en-GB" sz="1400" dirty="0"/>
              <a:t>Digital Twins (PSM, ATT): </a:t>
            </a:r>
            <a:r>
              <a:rPr lang="en-GB" sz="1600" b="1" dirty="0">
                <a:solidFill>
                  <a:srgbClr val="2E8B45"/>
                </a:solidFill>
              </a:rPr>
              <a:t>−1.6 pp</a:t>
            </a:r>
          </a:p>
        </p:txBody>
      </p:sp>
      <p:sp>
        <p:nvSpPr>
          <p:cNvPr id="61" name="Label Left"/>
          <p:cNvSpPr txBox="1"/>
          <p:nvPr/>
        </p:nvSpPr>
        <p:spPr>
          <a:xfrm>
            <a:off x="520700" y="1371600"/>
            <a:ext cx="4343400" cy="6350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algn="l">
              <a:spcAft>
                <a:spcPts val="100"/>
              </a:spcAft>
            </a:pPr>
            <a:r>
              <a:rPr lang="en-GB" sz="1600" b="1" dirty="0"/>
              <a:t>Overall comparison</a:t>
            </a:r>
          </a:p>
          <a:p>
            <a:pPr algn="l"/>
            <a:r>
              <a:rPr lang="en-GB" sz="1400" dirty="0">
                <a:solidFill>
                  <a:srgbClr val="666666"/>
                </a:solidFill>
              </a:rPr>
              <a:t>Raw averages — does not correct for self-selection</a:t>
            </a:r>
          </a:p>
        </p:txBody>
      </p:sp>
      <p:sp>
        <p:nvSpPr>
          <p:cNvPr id="62" name="Label Right"/>
          <p:cNvSpPr txBox="1"/>
          <p:nvPr/>
        </p:nvSpPr>
        <p:spPr>
          <a:xfrm>
            <a:off x="5422900" y="1371600"/>
            <a:ext cx="6096000" cy="6350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algn="l">
              <a:spcAft>
                <a:spcPts val="100"/>
              </a:spcAft>
            </a:pPr>
            <a:r>
              <a:rPr lang="en-GB" sz="1600" b="1" dirty="0"/>
              <a:t>Corrected (“Like-for-like”) comparison</a:t>
            </a:r>
          </a:p>
          <a:p>
            <a:pPr algn="l"/>
            <a:r>
              <a:rPr lang="en-GB" sz="1400" dirty="0">
                <a:solidFill>
                  <a:srgbClr val="666666"/>
                </a:solidFill>
              </a:rPr>
              <a:t>Two independent methods cross-check the estimate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6E5F9DF-36CA-24C6-FE19-9A72C5916C12}"/>
              </a:ext>
            </a:extLst>
          </p:cNvPr>
          <p:cNvGrpSpPr/>
          <p:nvPr/>
        </p:nvGrpSpPr>
        <p:grpSpPr>
          <a:xfrm>
            <a:off x="5419494" y="2914769"/>
            <a:ext cx="6096000" cy="2316217"/>
            <a:chOff x="5419494" y="2914769"/>
            <a:chExt cx="6096000" cy="231621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5B75B1B-048E-5633-5FC4-954568CB7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9494" y="3188826"/>
              <a:ext cx="6096000" cy="2042160"/>
            </a:xfrm>
            <a:prstGeom prst="rect">
              <a:avLst/>
            </a:prstGeom>
            <a:noFill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A1AB4F2-48EE-C19B-AFE1-8F04EF20CC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94503"/>
            <a:stretch/>
          </p:blipFill>
          <p:spPr>
            <a:xfrm>
              <a:off x="6096000" y="2914769"/>
              <a:ext cx="4343400" cy="16825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BA4042C-727A-875C-C3BD-3E50BB92F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" y="2292350"/>
            <a:ext cx="43434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7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6965E-8DD5-0B4B-D1E7-36AF1774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C7EFC5B-3774-9828-CCA6-81FD3C287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01" y="2244982"/>
            <a:ext cx="4645791" cy="32833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48938F-A81A-F40C-689C-9E99A9D2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Heavy users self-select into the booster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A4CEA-F99B-E7D0-AA4F-929849C1426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03393-CA11-F587-8193-7C63AD6EA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BE87C-4B93-8C4F-EFF2-5C71E40F3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88908-276D-34D6-4E8A-614938792381}"/>
              </a:ext>
            </a:extLst>
          </p:cNvPr>
          <p:cNvSpPr txBox="1"/>
          <p:nvPr/>
        </p:nvSpPr>
        <p:spPr>
          <a:xfrm>
            <a:off x="457200" y="5787023"/>
            <a:ext cx="11277600" cy="338554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Raw comparison is misleading — heavy users self-select into the booster, inflating expected benefit.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8B1E6C-2F91-49B4-1BA3-539193F38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76" y="2267268"/>
            <a:ext cx="5988520" cy="32726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59746A-B76A-7131-ED12-F3C5F85B0371}"/>
              </a:ext>
            </a:extLst>
          </p:cNvPr>
          <p:cNvSpPr txBox="1"/>
          <p:nvPr/>
        </p:nvSpPr>
        <p:spPr>
          <a:xfrm>
            <a:off x="2898438" y="1535981"/>
            <a:ext cx="7734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>
                <a:solidFill>
                  <a:srgbClr val="000000"/>
                </a:solidFill>
                <a:effectLst/>
              </a:rPr>
              <a:t>The apparent overall benefit comes mostly from the fact that heavy users choose the booster.</a:t>
            </a:r>
            <a:endParaRPr lang="en-CZ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422DF75-E527-1651-DAB8-903245C329DA}"/>
              </a:ext>
            </a:extLst>
          </p:cNvPr>
          <p:cNvSpPr/>
          <p:nvPr/>
        </p:nvSpPr>
        <p:spPr>
          <a:xfrm>
            <a:off x="4223792" y="2541707"/>
            <a:ext cx="1152128" cy="1143827"/>
          </a:xfrm>
          <a:prstGeom prst="ellipse">
            <a:avLst/>
          </a:prstGeom>
          <a:noFill/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352343-D58F-DC2C-1B41-27E7B76D9E7C}"/>
              </a:ext>
            </a:extLst>
          </p:cNvPr>
          <p:cNvSpPr/>
          <p:nvPr/>
        </p:nvSpPr>
        <p:spPr>
          <a:xfrm>
            <a:off x="9935244" y="2669770"/>
            <a:ext cx="1579235" cy="1579235"/>
          </a:xfrm>
          <a:prstGeom prst="ellipse">
            <a:avLst/>
          </a:prstGeom>
          <a:noFill/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095A65-A7B8-4C9F-E443-43FD8E98911F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6765471" y="1843758"/>
            <a:ext cx="3959391" cy="826012"/>
          </a:xfrm>
          <a:prstGeom prst="straightConnector1">
            <a:avLst/>
          </a:prstGeom>
          <a:ln>
            <a:solidFill>
              <a:schemeClr val="accent1">
                <a:alpha val="4977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926BF1-489A-67B1-BB4D-DA5227FC81B6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flipH="1">
            <a:off x="4799856" y="1843758"/>
            <a:ext cx="1965615" cy="697949"/>
          </a:xfrm>
          <a:prstGeom prst="straightConnector1">
            <a:avLst/>
          </a:prstGeom>
          <a:ln>
            <a:solidFill>
              <a:schemeClr val="accent1">
                <a:alpha val="4977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2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3" name="Graphic 903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8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20E63-4600-6179-C09C-24B1C5CE1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A64E-CAD0-0C8D-11E0-21E9EF70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Extreme internet users drive the entire booster effect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23F390-D270-5CFC-0B30-5AB48392A12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F9141-0696-EB8D-C723-ACA23C0E3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D5DFB-36EB-B2F4-55AB-315D58333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8113E-96AD-8F49-A40F-1FE450B78641}"/>
              </a:ext>
            </a:extLst>
          </p:cNvPr>
          <p:cNvSpPr txBox="1"/>
          <p:nvPr/>
        </p:nvSpPr>
        <p:spPr>
          <a:xfrm>
            <a:off x="457200" y="5663913"/>
            <a:ext cx="11277600" cy="584775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 anchorCtr="0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Only Extreme internet users show a statistically significant effect — the other segments show no meaningful cancelation rate reduction.</a:t>
            </a:r>
          </a:p>
        </p:txBody>
      </p:sp>
      <p:sp>
        <p:nvSpPr>
          <p:cNvPr id="904" name="TakeawayBar">
            <a:extLst>
              <a:ext uri="{FF2B5EF4-FFF2-40B4-BE49-F238E27FC236}">
                <a16:creationId xmlns:a16="http://schemas.microsoft.com/office/drawing/2014/main" id="{7241D48A-8BC0-47D7-6886-420886D1B24B}"/>
              </a:ext>
            </a:extLst>
          </p:cNvPr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5" name="Graphic 905">
            <a:extLst>
              <a:ext uri="{FF2B5EF4-FFF2-40B4-BE49-F238E27FC236}">
                <a16:creationId xmlns:a16="http://schemas.microsoft.com/office/drawing/2014/main" id="{880C9F5F-8313-79FA-289E-85DEBFAB0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sp>
        <p:nvSpPr>
          <p:cNvPr id="70" name="AME Explanation">
            <a:extLst>
              <a:ext uri="{FF2B5EF4-FFF2-40B4-BE49-F238E27FC236}">
                <a16:creationId xmlns:a16="http://schemas.microsoft.com/office/drawing/2014/main" id="{49B3AA65-8C49-2CFC-5A0F-37A1BAA6AAA0}"/>
              </a:ext>
            </a:extLst>
          </p:cNvPr>
          <p:cNvSpPr txBox="1"/>
          <p:nvPr/>
        </p:nvSpPr>
        <p:spPr>
          <a:xfrm>
            <a:off x="6871871" y="1867712"/>
            <a:ext cx="4275667" cy="1273256"/>
          </a:xfrm>
          <a:prstGeom prst="roundRect">
            <a:avLst>
              <a:gd name="adj" fmla="val 10000"/>
            </a:avLst>
          </a:prstGeom>
          <a:solidFill>
            <a:srgbClr val="D8CCBE"/>
          </a:solidFill>
          <a:ln w="12700">
            <a:solidFill>
              <a:srgbClr val="C4B5A5"/>
            </a:solidFill>
          </a:ln>
        </p:spPr>
        <p:txBody>
          <a:bodyPr wrap="square" lIns="91440" tIns="63500" rIns="91440" bIns="63500" rtlCol="0" anchor="t"/>
          <a:lstStyle/>
          <a:p>
            <a:pPr algn="l"/>
            <a:r>
              <a:rPr lang="en-GB" sz="1400" b="1" dirty="0"/>
              <a:t>HTE (Heterogeneous Treatment Effect)</a:t>
            </a:r>
            <a:r>
              <a:rPr lang="en-GB" sz="1400" dirty="0"/>
              <a:t> answers: “For a customer with specific characteristics, how much does a cancelation probability change if that customer has or has not a booster, while everything else stays the same?”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3C400A2-4DB5-2EE1-5A99-C3F0E73E9099}"/>
              </a:ext>
            </a:extLst>
          </p:cNvPr>
          <p:cNvGraphicFramePr>
            <a:graphicFrameLocks noGrp="1"/>
          </p:cNvGraphicFramePr>
          <p:nvPr/>
        </p:nvGraphicFramePr>
        <p:xfrm>
          <a:off x="6871870" y="3576364"/>
          <a:ext cx="4275668" cy="1371600"/>
        </p:xfrm>
        <a:graphic>
          <a:graphicData uri="http://schemas.openxmlformats.org/drawingml/2006/table">
            <a:tbl>
              <a:tblPr/>
              <a:tblGrid>
                <a:gridCol w="1528386">
                  <a:extLst>
                    <a:ext uri="{9D8B030D-6E8A-4147-A177-3AD203B41FA5}">
                      <a16:colId xmlns:a16="http://schemas.microsoft.com/office/drawing/2014/main" val="408675688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603415047"/>
                    </a:ext>
                  </a:extLst>
                </a:gridCol>
                <a:gridCol w="1379130">
                  <a:extLst>
                    <a:ext uri="{9D8B030D-6E8A-4147-A177-3AD203B41FA5}">
                      <a16:colId xmlns:a16="http://schemas.microsoft.com/office/drawing/2014/main" val="2754306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AME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61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Low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/>
                        <a:t>24%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−0.2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3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Medium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/>
                        <a:t>34%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+0.5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9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High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/>
                        <a:t>28%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0.0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80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b="1"/>
                        <a:t>Extreme usage</a:t>
                      </a:r>
                      <a:endParaRPr lang="en-GB" sz="120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17%</a:t>
                      </a:r>
                      <a:endParaRPr lang="en-GB" sz="12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−6.6 pp</a:t>
                      </a:r>
                      <a:endParaRPr lang="en-GB" sz="12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44762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6DA8FC7-603A-1FFF-1E82-F52B20EF6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1402236"/>
            <a:ext cx="5722627" cy="405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4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B64C7-5188-27CD-B795-B6A3EFD4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4D95-34B0-F58E-CB7E-E25CD1A9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Targeted vs. blanket: CHF +20.7M vs. CHF −22M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4D85D-5907-034C-6710-1B441A1652A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A5EEA-A88A-B94C-359B-E9083A8D5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FF664-7F62-2318-2CB1-EB182C1C8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3CC2A9-5CE5-7AD6-3489-531FC80A7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79"/>
          <a:stretch/>
        </p:blipFill>
        <p:spPr>
          <a:xfrm>
            <a:off x="850333" y="1844824"/>
            <a:ext cx="10346178" cy="386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1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3DAE-E903-1AD3-541C-B0B94A7EE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Appendix: EDA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2393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2507-8817-78A8-D98E-16AB86B7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6C8F-C1DE-A2B5-2740-0A9ED057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Booster Adoption: u</a:t>
            </a:r>
            <a:r>
              <a:rPr lang="en-GB" sz="2400" dirty="0"/>
              <a:t>rban vs rural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5308D-CD8A-45AF-F95B-19E4E058B4D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FD016-9AAA-6614-0DB2-187473E08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47039-538F-AC9F-93DB-E9846C2B5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ADBED2-2F40-3A99-12F5-7BC66ECEF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268760"/>
            <a:ext cx="9634674" cy="40103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839FA8-A612-E0F9-CB4D-D000F71D7D5E}"/>
              </a:ext>
            </a:extLst>
          </p:cNvPr>
          <p:cNvSpPr txBox="1"/>
          <p:nvPr/>
        </p:nvSpPr>
        <p:spPr>
          <a:xfrm>
            <a:off x="457200" y="5470893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Urban customers request it more than rural</a:t>
            </a:r>
          </a:p>
        </p:txBody>
      </p:sp>
      <p:sp>
        <p:nvSpPr>
          <p:cNvPr id="6" name="TakeawayBar">
            <a:extLst>
              <a:ext uri="{FF2B5EF4-FFF2-40B4-BE49-F238E27FC236}">
                <a16:creationId xmlns:a16="http://schemas.microsoft.com/office/drawing/2014/main" id="{8E89CD07-DA87-C244-9E44-E38C99670532}"/>
              </a:ext>
            </a:extLst>
          </p:cNvPr>
          <p:cNvSpPr/>
          <p:nvPr/>
        </p:nvSpPr>
        <p:spPr>
          <a:xfrm>
            <a:off x="457200" y="5308600"/>
            <a:ext cx="63500" cy="635000"/>
          </a:xfrm>
          <a:prstGeom prst="rect">
            <a:avLst/>
          </a:prstGeom>
          <a:solidFill>
            <a:srgbClr val="DA291C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pic>
        <p:nvPicPr>
          <p:cNvPr id="13" name="Copied Picture 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" y="54737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188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95A7B-B086-D59F-9D30-415FA977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E5F5-BB6B-AEAC-6A33-A1A3B98BA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Tenure Distributions: </a:t>
            </a:r>
            <a:r>
              <a:rPr lang="en-GB" sz="2400" dirty="0"/>
              <a:t>Booster vs No-booster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42937-44E0-644D-8B5F-55D85086027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F35E1-19B8-70B1-EC68-E81F349E5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D7DAD-60D2-3332-B2BC-E7B53785D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968D5D-38BA-BAF8-BD95-34618C9ED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680" y="1566962"/>
            <a:ext cx="7561021" cy="4122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AEFE49-00FC-E45E-F392-7EE00849D551}"/>
              </a:ext>
            </a:extLst>
          </p:cNvPr>
          <p:cNvSpPr txBox="1"/>
          <p:nvPr/>
        </p:nvSpPr>
        <p:spPr>
          <a:xfrm>
            <a:off x="457200" y="5842000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Booster adopters have similar tenure</a:t>
            </a:r>
          </a:p>
        </p:txBody>
      </p:sp>
      <p:sp>
        <p:nvSpPr>
          <p:cNvPr id="7" name="TakeawayBar">
            <a:extLst>
              <a:ext uri="{FF2B5EF4-FFF2-40B4-BE49-F238E27FC236}">
                <a16:creationId xmlns:a16="http://schemas.microsoft.com/office/drawing/2014/main" id="{8762AB10-5138-AC4D-8CC9-98A18802E5B2}"/>
              </a:ext>
            </a:extLst>
          </p:cNvPr>
          <p:cNvSpPr/>
          <p:nvPr/>
        </p:nvSpPr>
        <p:spPr>
          <a:xfrm>
            <a:off x="457200" y="5689600"/>
            <a:ext cx="63500" cy="635000"/>
          </a:xfrm>
          <a:prstGeom prst="rect">
            <a:avLst/>
          </a:prstGeom>
          <a:solidFill>
            <a:srgbClr val="DA291C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pic>
        <p:nvPicPr>
          <p:cNvPr id="9" name="Copied Picture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" y="58420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930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3A2A2-5181-2D4A-63E4-18F8EBE6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CC84-B316-940F-4362-979606A0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Bundle Stickiness: </a:t>
            </a:r>
            <a:r>
              <a:rPr lang="en-GB" sz="2400" dirty="0"/>
              <a:t>Cancelation rate by TV × Mobile product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1AEE3-2BE6-41DD-9339-8AB831FDAD3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B8B41-E93A-C363-8829-B3E6089E6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C81B9-412C-E14C-F863-C8FF1F740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EF5108-0C44-38A0-DC8F-778928DF15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48"/>
          <a:stretch/>
        </p:blipFill>
        <p:spPr>
          <a:xfrm>
            <a:off x="3040376" y="1369538"/>
            <a:ext cx="6174747" cy="39671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D005D7-70A8-904B-79FB-D89A56B28C83}"/>
              </a:ext>
            </a:extLst>
          </p:cNvPr>
          <p:cNvSpPr txBox="1"/>
          <p:nvPr/>
        </p:nvSpPr>
        <p:spPr>
          <a:xfrm>
            <a:off x="457200" y="5415652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No-bundle customers cancel at 20%, vs 12% for bundled (golden handcuffs)</a:t>
            </a:r>
          </a:p>
        </p:txBody>
      </p:sp>
      <p:sp>
        <p:nvSpPr>
          <p:cNvPr id="6" name="TakeawayBar">
            <a:extLst>
              <a:ext uri="{FF2B5EF4-FFF2-40B4-BE49-F238E27FC236}">
                <a16:creationId xmlns:a16="http://schemas.microsoft.com/office/drawing/2014/main" id="{ED80C759-303C-FA4D-A5C5-FC9773A754B8}"/>
              </a:ext>
            </a:extLst>
          </p:cNvPr>
          <p:cNvSpPr/>
          <p:nvPr/>
        </p:nvSpPr>
        <p:spPr>
          <a:xfrm>
            <a:off x="457200" y="5257800"/>
            <a:ext cx="63500" cy="635000"/>
          </a:xfrm>
          <a:prstGeom prst="rect">
            <a:avLst/>
          </a:prstGeom>
          <a:solidFill>
            <a:srgbClr val="DA291C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pic>
        <p:nvPicPr>
          <p:cNvPr id="10" name="Copied Picture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" y="54102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92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458F-6B55-A416-7402-A7C88B40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25241-5394-0795-03E4-7BB44FE7C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Tenure cohorts vs cancelation rate (life-stage curve)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D85DC-5B2A-F4F6-AC74-D4CCB1DB8FC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AD3ED-9FD7-AB7D-A5E8-E9664AE57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64E9A-D534-C695-595F-99B9AA5EC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0FBC7-EB21-64E4-9404-D9AF7CCDFB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14"/>
          <a:stretch/>
        </p:blipFill>
        <p:spPr>
          <a:xfrm>
            <a:off x="1847527" y="1458564"/>
            <a:ext cx="8451703" cy="3911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C6BB0F-9F51-80CD-3A75-6D9D8038B9CC}"/>
              </a:ext>
            </a:extLst>
          </p:cNvPr>
          <p:cNvSpPr txBox="1"/>
          <p:nvPr/>
        </p:nvSpPr>
        <p:spPr>
          <a:xfrm>
            <a:off x="457200" y="5670346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Cancelation peaks 13–24 months then falls (tenure effect)</a:t>
            </a:r>
          </a:p>
        </p:txBody>
      </p:sp>
      <p:sp>
        <p:nvSpPr>
          <p:cNvPr id="7" name="TakeawayBar">
            <a:extLst>
              <a:ext uri="{FF2B5EF4-FFF2-40B4-BE49-F238E27FC236}">
                <a16:creationId xmlns:a16="http://schemas.microsoft.com/office/drawing/2014/main" id="{45F4BF07-C1D3-AE4D-B7D5-773395098006}"/>
              </a:ext>
            </a:extLst>
          </p:cNvPr>
          <p:cNvSpPr/>
          <p:nvPr/>
        </p:nvSpPr>
        <p:spPr>
          <a:xfrm>
            <a:off x="457200" y="5511800"/>
            <a:ext cx="63500" cy="635000"/>
          </a:xfrm>
          <a:prstGeom prst="rect">
            <a:avLst/>
          </a:prstGeom>
          <a:solidFill>
            <a:srgbClr val="DA291C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pic>
        <p:nvPicPr>
          <p:cNvPr id="10" name="Copied Picture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" y="56642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837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AD734-7DB7-243E-A0AD-A0689CC54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3952-347E-4917-8CC8-A09B098C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Data Health: </a:t>
            </a:r>
            <a:r>
              <a:rPr lang="en-GB" sz="2400" dirty="0"/>
              <a:t>Mixed correlation heatmap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2A80DC-E9C8-21BA-3989-0C9032BD0FB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92532-8AFF-36C0-7E23-27E96D9CA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08288-AAA9-9853-E0B8-13B5D447A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9CEC0-54C6-78B8-3F5D-763472AE3F91}"/>
              </a:ext>
            </a:extLst>
          </p:cNvPr>
          <p:cNvSpPr txBox="1"/>
          <p:nvPr/>
        </p:nvSpPr>
        <p:spPr>
          <a:xfrm>
            <a:off x="457200" y="5943600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 err="1">
                <a:solidFill>
                  <a:srgbClr val="3D3935"/>
                </a:solidFill>
              </a:rPr>
              <a:t>Has_booster</a:t>
            </a:r>
            <a:r>
              <a:rPr lang="en-GB" sz="1600" b="1" dirty="0">
                <a:solidFill>
                  <a:srgbClr val="3D3935"/>
                </a:solidFill>
              </a:rPr>
              <a:t> ↔ </a:t>
            </a:r>
            <a:r>
              <a:rPr lang="en-GB" sz="1600" b="1" dirty="0" err="1">
                <a:solidFill>
                  <a:srgbClr val="3D3935"/>
                </a:solidFill>
              </a:rPr>
              <a:t>tv_product</a:t>
            </a:r>
            <a:r>
              <a:rPr lang="en-GB" sz="1600" b="1" dirty="0">
                <a:solidFill>
                  <a:srgbClr val="3D3935"/>
                </a:solidFill>
              </a:rPr>
              <a:t> V=0.34, the key confounder for the logistic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0B5E7-8E6D-8037-7B4F-142946DEB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650" y="1628800"/>
            <a:ext cx="4761710" cy="4248472"/>
          </a:xfrm>
          <a:prstGeom prst="rect">
            <a:avLst/>
          </a:prstGeom>
        </p:spPr>
      </p:pic>
      <p:sp>
        <p:nvSpPr>
          <p:cNvPr id="6" name="TakeawayBar">
            <a:extLst>
              <a:ext uri="{FF2B5EF4-FFF2-40B4-BE49-F238E27FC236}">
                <a16:creationId xmlns:a16="http://schemas.microsoft.com/office/drawing/2014/main" id="{360772CB-670B-9D40-BA44-29E24A88FE3B}"/>
              </a:ext>
            </a:extLst>
          </p:cNvPr>
          <p:cNvSpPr/>
          <p:nvPr/>
        </p:nvSpPr>
        <p:spPr>
          <a:xfrm>
            <a:off x="457200" y="5791200"/>
            <a:ext cx="63500" cy="635000"/>
          </a:xfrm>
          <a:prstGeom prst="rect">
            <a:avLst/>
          </a:prstGeom>
          <a:solidFill>
            <a:srgbClr val="DA291C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pic>
        <p:nvPicPr>
          <p:cNvPr id="11" name="Copied Picture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" y="5943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98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F09DD-7A5D-3E4F-D39F-1C0EC9DC1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30EE9-C54B-E0A2-C261-F5C93F96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10297712" cy="866450"/>
          </a:xfrm>
        </p:spPr>
        <p:txBody>
          <a:bodyPr/>
          <a:lstStyle/>
          <a:p>
            <a:r>
              <a:rPr lang="en-GB" sz="2400" b="1" dirty="0"/>
              <a:t>Non-linear churn by life stage: </a:t>
            </a:r>
            <a:r>
              <a:rPr lang="en-GB" sz="2400" dirty="0"/>
              <a:t>Cancelation peaks for young customers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9B1BD-9F9B-0B42-84E4-DC03AA3350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5DAC2-5EDB-8F0B-F8E8-5042AF4CE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E9E4A-266C-52D3-42CB-AA53A3E69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CE9EF-7DDF-FD8B-EF62-2447425DAFAE}"/>
              </a:ext>
            </a:extLst>
          </p:cNvPr>
          <p:cNvSpPr txBox="1"/>
          <p:nvPr/>
        </p:nvSpPr>
        <p:spPr>
          <a:xfrm>
            <a:off x="457200" y="5445224"/>
            <a:ext cx="1127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U-shaped churn curve — young customers (18–25: 19.1%) churn most, drops sharply to 51–65 (12.4%), then rises slightly at 66+ (13.7%). The age_group dummy approach is preferable.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F3C4BE-003F-8FFF-7986-D5EE0D94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1465886"/>
            <a:ext cx="6407100" cy="3493464"/>
          </a:xfrm>
          <a:prstGeom prst="rect">
            <a:avLst/>
          </a:prstGeom>
        </p:spPr>
      </p:pic>
      <p:sp>
        <p:nvSpPr>
          <p:cNvPr id="7" name="TakeawayBar">
            <a:extLst>
              <a:ext uri="{FF2B5EF4-FFF2-40B4-BE49-F238E27FC236}">
                <a16:creationId xmlns:a16="http://schemas.microsoft.com/office/drawing/2014/main" id="{66A17DBD-9D32-8840-A89C-1FEE9B2D4C33}"/>
              </a:ext>
            </a:extLst>
          </p:cNvPr>
          <p:cNvSpPr/>
          <p:nvPr/>
        </p:nvSpPr>
        <p:spPr>
          <a:xfrm>
            <a:off x="457200" y="5283200"/>
            <a:ext cx="63500" cy="635000"/>
          </a:xfrm>
          <a:prstGeom prst="rect">
            <a:avLst/>
          </a:prstGeom>
          <a:solidFill>
            <a:srgbClr val="DA291C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pic>
        <p:nvPicPr>
          <p:cNvPr id="9" name="Copied Picture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" y="54483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129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704ED-418A-994F-D23A-6A632A15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623C4-58CE-FE28-30C0-5DAAD09E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Regional Churn: </a:t>
            </a:r>
            <a:r>
              <a:rPr lang="en-GB" sz="2400" dirty="0"/>
              <a:t>Average cancelation rate by Swiss region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7553B-9E4D-882D-8D5B-9EAA27E5F87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5CDF0-CAB6-DF62-CA79-2EAFC1F51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3AC11-4106-2BC3-717A-B38709936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2D549-2133-34C6-6AD8-F937E99745E7}"/>
              </a:ext>
            </a:extLst>
          </p:cNvPr>
          <p:cNvSpPr txBox="1"/>
          <p:nvPr/>
        </p:nvSpPr>
        <p:spPr>
          <a:xfrm>
            <a:off x="457200" y="5445224"/>
            <a:ext cx="1127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Bern/Mittelland (14.6%), Lake Geneva (14.4%), and Zürich (14.3%) are above the 14.1% average; Eastern Switzerland (13.2%) and Central Switzerland (13.6%) are below. Regional variation is modest (~1.4pp range) but real.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ACA44E-1CB7-4CF2-8734-246D789804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00"/>
          <a:stretch/>
        </p:blipFill>
        <p:spPr>
          <a:xfrm>
            <a:off x="1360810" y="1539886"/>
            <a:ext cx="9305291" cy="3710205"/>
          </a:xfrm>
          <a:prstGeom prst="rect">
            <a:avLst/>
          </a:prstGeom>
        </p:spPr>
      </p:pic>
      <p:sp>
        <p:nvSpPr>
          <p:cNvPr id="6" name="TakeawayBar">
            <a:extLst>
              <a:ext uri="{FF2B5EF4-FFF2-40B4-BE49-F238E27FC236}">
                <a16:creationId xmlns:a16="http://schemas.microsoft.com/office/drawing/2014/main" id="{F33929B3-AB68-CA4F-954A-8F7A366AEC54}"/>
              </a:ext>
            </a:extLst>
          </p:cNvPr>
          <p:cNvSpPr/>
          <p:nvPr/>
        </p:nvSpPr>
        <p:spPr>
          <a:xfrm>
            <a:off x="457200" y="5283200"/>
            <a:ext cx="63500" cy="635000"/>
          </a:xfrm>
          <a:prstGeom prst="rect">
            <a:avLst/>
          </a:prstGeom>
          <a:solidFill>
            <a:srgbClr val="DA291C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pic>
        <p:nvPicPr>
          <p:cNvPr id="9" name="Copied Picture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" y="54483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953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1461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2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D0B35E-B1AB-3843-AD86-533FBBE7E1A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2212706-af19-44ed-ba66-9f3eac4b3a1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C3F629B479E684C98A115D743AE17AD" ma:contentTypeVersion="6" ma:contentTypeDescription="Ein neues Dokument erstellen." ma:contentTypeScope="" ma:versionID="54b9edd7663d60bb18de8a401c8ae558">
  <xsd:schema xmlns:xsd="http://www.w3.org/2001/XMLSchema" xmlns:xs="http://www.w3.org/2001/XMLSchema" xmlns:p="http://schemas.microsoft.com/office/2006/metadata/properties" xmlns:ns2="e8db6923-9182-43c2-a7ce-2531ce75c35a" xmlns:ns3="e38efed2-7168-4933-8783-d4c0cfbbf168" targetNamespace="http://schemas.microsoft.com/office/2006/metadata/properties" ma:root="true" ma:fieldsID="3f01319d051765709a6f928e8430e9e2" ns2:_="" ns3:_="">
    <xsd:import namespace="e8db6923-9182-43c2-a7ce-2531ce75c35a"/>
    <xsd:import namespace="e38efed2-7168-4933-8783-d4c0cfbbf1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b6923-9182-43c2-a7ce-2531ce75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efed2-7168-4933-8783-d4c0cfbbf16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D789B4-2504-4345-ABBB-06503D676E35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e38efed2-7168-4933-8783-d4c0cfbbf168"/>
    <ds:schemaRef ds:uri="http://schemas.openxmlformats.org/package/2006/metadata/core-properties"/>
    <ds:schemaRef ds:uri="http://schemas.microsoft.com/office/2006/metadata/properties"/>
    <ds:schemaRef ds:uri="e8db6923-9182-43c2-a7ce-2531ce75c35a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645C6B0-7992-4F59-918D-EC7DBE52C0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758CFF-ECE1-4BC0-9EC3-9F9F0BA7FB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db6923-9182-43c2-a7ce-2531ce75c35a"/>
    <ds:schemaRef ds:uri="e38efed2-7168-4933-8783-d4c0cfbbf1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d33132b-6f1b-488f-a083-829d45dae31f}" enabled="1" method="Standard" siteId="{ac66e848-7cb4-490d-b461-4eb2e62f834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Sunrise_Corporate_Brand_Blank</Template>
  <TotalTime>8383</TotalTime>
  <Words>583</Words>
  <Application>Microsoft Macintosh PowerPoint</Application>
  <PresentationFormat>Widescreen</PresentationFormat>
  <Paragraphs>101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Tahoma</vt:lpstr>
      <vt:lpstr>GmbH_Sunrise</vt:lpstr>
      <vt:lpstr>GmbH_Sunrise</vt:lpstr>
      <vt:lpstr>think-cell Slide</vt:lpstr>
      <vt:lpstr>WiFi Booster Impact</vt:lpstr>
      <vt:lpstr>Executive Summary: Targeted rollout unlocks CHF +20.7M</vt:lpstr>
      <vt:lpstr>How much does the booster reduce cancelation?</vt:lpstr>
      <vt:lpstr>Heavy users self-select into the booster</vt:lpstr>
      <vt:lpstr>Extreme internet users drive the entire booster effect</vt:lpstr>
      <vt:lpstr>Targeted vs. blanket: CHF +20.7M vs. CHF −22M</vt:lpstr>
      <vt:lpstr>Appendix: EDA</vt:lpstr>
      <vt:lpstr>Booster Adoption: urban vs rural</vt:lpstr>
      <vt:lpstr>Tenure Distributions: Booster vs No-booster</vt:lpstr>
      <vt:lpstr>Bundle Stickiness: Cancelation rate by TV × Mobile product</vt:lpstr>
      <vt:lpstr>Tenure cohorts vs cancelation rate (life-stage curve)</vt:lpstr>
      <vt:lpstr>Data Health: Mixed correlation heatmap</vt:lpstr>
      <vt:lpstr>Non-linear churn by life stage: Cancelation peaks for young customers</vt:lpstr>
      <vt:lpstr>Regional Churn: Average cancelation rate by Swiss region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Lämmel, Klaus</dc:creator>
  <cp:lastModifiedBy>Babenyshev Stanislav</cp:lastModifiedBy>
  <cp:revision>32</cp:revision>
  <dcterms:created xsi:type="dcterms:W3CDTF">2026-05-26T15:46:55Z</dcterms:created>
  <dcterms:modified xsi:type="dcterms:W3CDTF">2026-06-19T11:50:44Z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0x0101007C3F629B479E684C98A115D743AE17AD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GmbH_Sunrise:18</vt:lpwstr>
  </property>
  <property fmtid="{D5CDD505-2E9C-101B-9397-08002B2CF9AE}" pid="5" name="ClassificationContentMarkingFooterText">
    <vt:lpwstr>Internal</vt:lpwstr>
  </property>
</Properties>
</file>