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  <p:sldMasterId id="2147483902" r:id="rId5"/>
  </p:sldMasterIdLst>
  <p:notesMasterIdLst>
    <p:notesMasterId r:id="rId14"/>
  </p:notesMasterIdLst>
  <p:sldIdLst>
    <p:sldId id="256" r:id="rId6"/>
    <p:sldId id="2147474675" r:id="rId7"/>
    <p:sldId id="2147474665" r:id="rId8"/>
    <p:sldId id="2147474671" r:id="rId9"/>
    <p:sldId id="2147474674" r:id="rId10"/>
    <p:sldId id="2147474662" r:id="rId11"/>
    <p:sldId id="2147474669" r:id="rId12"/>
    <p:sldId id="2147474626" r:id="rId13"/>
  </p:sldIdLst>
  <p:sldSz cx="12192000" cy="6858000"/>
  <p:notesSz cx="6858000" cy="9144000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9" autoAdjust="0"/>
    <p:restoredTop sz="94655" autoAdjust="0"/>
  </p:normalViewPr>
  <p:slideViewPr>
    <p:cSldViewPr showGuides="1">
      <p:cViewPr varScale="1">
        <p:scale>
          <a:sx n="86" d="100"/>
          <a:sy n="86" d="100"/>
        </p:scale>
        <p:origin x="248" y="8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18.06.26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18/06/2026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oleObject" Target="../embeddings/oleObject2.bin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image" Target="../media/image3.sv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60.xml"/><Relationship Id="rId4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  <p:sldLayoutId id="2147483935" r:id="rId33"/>
    <p:sldLayoutId id="2147483936" r:id="rId34"/>
    <p:sldLayoutId id="2147483937" r:id="rId35"/>
    <p:sldLayoutId id="2147483938" r:id="rId36"/>
    <p:sldLayoutId id="2147483939" r:id="rId37"/>
    <p:sldLayoutId id="2147483940" r:id="rId38"/>
    <p:sldLayoutId id="2147483941" r:id="rId39"/>
    <p:sldLayoutId id="2147483942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Stanislav </a:t>
            </a:r>
            <a:r>
              <a:rPr lang="en-GB" dirty="0" err="1"/>
              <a:t>Babenyshev</a:t>
            </a:r>
            <a:endParaRPr lang="en-GB" dirty="0"/>
          </a:p>
          <a:p>
            <a:r>
              <a:rPr lang="en-GB" dirty="0"/>
              <a:t>19.06.2026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73CA-C871-6357-B2F3-35A6ABAE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3B06-5A28-1880-7E39-51BB8D5B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Booster rollout is not economically justified for the full customer base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B9F99-1057-0A04-4234-12F3858D84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8D50F-3FC2-DB86-2FEB-68D62C6BE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681A-CA9A-2ECC-969B-110DC936B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BF8BC-788D-B39C-C722-DF5742230246}"/>
              </a:ext>
            </a:extLst>
          </p:cNvPr>
          <p:cNvSpPr txBox="1"/>
          <p:nvPr/>
        </p:nvSpPr>
        <p:spPr>
          <a:xfrm>
            <a:off x="551384" y="1844824"/>
            <a:ext cx="4715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Recommendation</a:t>
            </a:r>
          </a:p>
          <a:p>
            <a:pPr algn="l"/>
            <a:r>
              <a:rPr lang="en-GB" b="1" dirty="0">
                <a:solidFill>
                  <a:srgbClr val="C0392B"/>
                </a:solidFill>
                <a:latin typeface="Arial"/>
              </a:rPr>
              <a:t>✗  </a:t>
            </a:r>
            <a:r>
              <a:rPr lang="en-GB" dirty="0"/>
              <a:t>Do not roll out booster to all customers</a:t>
            </a:r>
          </a:p>
          <a:p>
            <a:pPr algn="l"/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Consider targeted rollout for Extreme internet users</a:t>
            </a:r>
          </a:p>
          <a:p>
            <a:pPr algn="l"/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Validate with randomized A/B test before large investment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223483-CC19-43C9-A7F0-9331D10FBDE0}"/>
              </a:ext>
            </a:extLst>
          </p:cNvPr>
          <p:cNvGraphicFramePr>
            <a:graphicFrameLocks noGrp="1"/>
          </p:cNvGraphicFramePr>
          <p:nvPr/>
        </p:nvGraphicFramePr>
        <p:xfrm>
          <a:off x="6061422" y="1844824"/>
          <a:ext cx="5364572" cy="2377440"/>
        </p:xfrm>
        <a:graphic>
          <a:graphicData uri="http://schemas.openxmlformats.org/drawingml/2006/table">
            <a:tbl>
              <a:tblPr/>
              <a:tblGrid>
                <a:gridCol w="2034487">
                  <a:extLst>
                    <a:ext uri="{9D8B030D-6E8A-4147-A177-3AD203B41FA5}">
                      <a16:colId xmlns:a16="http://schemas.microsoft.com/office/drawing/2014/main" val="1724286036"/>
                    </a:ext>
                  </a:extLst>
                </a:gridCol>
                <a:gridCol w="3330085">
                  <a:extLst>
                    <a:ext uri="{9D8B030D-6E8A-4147-A177-3AD203B41FA5}">
                      <a16:colId xmlns:a16="http://schemas.microsoft.com/office/drawing/2014/main" val="22457555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0275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Rollout cost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CHF 52.5M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6523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Estimated ROI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Negative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703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dirty="0"/>
                        <a:t>Strongest beneficiary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Extreme internet users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2459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Confidence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Moderate (observational evidence only)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4096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478F14-938B-1987-447D-B756AB9997F7}"/>
              </a:ext>
            </a:extLst>
          </p:cNvPr>
          <p:cNvSpPr txBox="1"/>
          <p:nvPr/>
        </p:nvSpPr>
        <p:spPr>
          <a:xfrm>
            <a:off x="457200" y="5663912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Initial analysis suggested a large benefit. After correcting for selection bias, the estimated effect is much smaller and concentrated in one segment.</a:t>
            </a:r>
          </a:p>
        </p:txBody>
      </p:sp>
      <p:sp>
        <p:nvSpPr>
          <p:cNvPr id="901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458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965E-8DD5-0B4B-D1E7-36AF1774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84FF1AF7-4DFF-6627-2DC1-F65E0D5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935" y="2479206"/>
            <a:ext cx="5588000" cy="3060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8938F-A81A-F40C-689C-9E99A9D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Heavy users self-select into the booster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4CEA-F99B-E7D0-AA4F-929849C142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3393-CA11-F587-8193-7C63AD6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BE87C-4B93-8C4F-EFF2-5C71E40F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88908-276D-34D6-4E8A-614938792381}"/>
              </a:ext>
            </a:extLst>
          </p:cNvPr>
          <p:cNvSpPr txBox="1"/>
          <p:nvPr/>
        </p:nvSpPr>
        <p:spPr>
          <a:xfrm>
            <a:off x="2063552" y="5786869"/>
            <a:ext cx="90024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Comparing raw averages would overestimate the booster effect. So we need to adjust for that.</a:t>
            </a:r>
            <a:endParaRPr lang="en-CZ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B1E6C-2F91-49B4-1BA3-539193F3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76" y="2443562"/>
            <a:ext cx="5665924" cy="309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59746A-B76A-7131-ED12-F3C5F85B0371}"/>
              </a:ext>
            </a:extLst>
          </p:cNvPr>
          <p:cNvSpPr txBox="1"/>
          <p:nvPr/>
        </p:nvSpPr>
        <p:spPr>
          <a:xfrm>
            <a:off x="2898439" y="1535981"/>
            <a:ext cx="6395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</a:rPr>
              <a:t>The apparent overall benefit comes mostly from the fact that heavy users choose the booster.</a:t>
            </a:r>
            <a:endParaRPr lang="en-CZ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2DF75-E527-1651-DAB8-903245C329DA}"/>
              </a:ext>
            </a:extLst>
          </p:cNvPr>
          <p:cNvSpPr/>
          <p:nvPr/>
        </p:nvSpPr>
        <p:spPr>
          <a:xfrm>
            <a:off x="3946724" y="2601932"/>
            <a:ext cx="1152128" cy="11521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352343-D58F-DC2C-1B41-27E7B76D9E7C}"/>
              </a:ext>
            </a:extLst>
          </p:cNvPr>
          <p:cNvSpPr/>
          <p:nvPr/>
        </p:nvSpPr>
        <p:spPr>
          <a:xfrm>
            <a:off x="10410635" y="2728080"/>
            <a:ext cx="1579235" cy="157923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95A65-A7B8-4C9F-E443-43FD8E98911F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>
            <a:off x="9293561" y="1797591"/>
            <a:ext cx="1906692" cy="930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926BF1-489A-67B1-BB4D-DA5227FC81B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4522788" y="2059201"/>
            <a:ext cx="1573212" cy="542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548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969D-5D2F-47D8-508B-FDEB00FA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5B75B1B-048E-5633-5FC4-954568CB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764" y="2236646"/>
            <a:ext cx="6096000" cy="204216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BF4E85-993F-1666-EF36-694AE21D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319149"/>
            <a:ext cx="5177175" cy="922749"/>
          </a:xfrm>
        </p:spPr>
        <p:txBody>
          <a:bodyPr vert="horz" lIns="0" tIns="0" rIns="0" bIns="43200" rtlCol="0" anchor="b" anchorCtr="0">
            <a:normAutofit/>
          </a:bodyPr>
          <a:lstStyle/>
          <a:p>
            <a:r>
              <a:rPr lang="en-GB" kern="1200">
                <a:latin typeface="+mj-lt"/>
                <a:ea typeface="+mj-ea"/>
                <a:cs typeface="+mj-cs"/>
              </a:rPr>
              <a:t>Comparing like-for-like customers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E066E4-E7C3-A28F-9284-B633447DBD5C}"/>
              </a:ext>
            </a:extLst>
          </p:cNvPr>
          <p:cNvSpPr txBox="1"/>
          <p:nvPr/>
        </p:nvSpPr>
        <p:spPr>
          <a:xfrm>
            <a:off x="10853480" y="304341"/>
            <a:ext cx="949589" cy="843687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GB" sz="100" b="0" i="0" u="none" strike="noStrike" kern="1200">
                <a:effectLst/>
                <a:latin typeface="+mn-lt"/>
                <a:ea typeface="+mn-ea"/>
                <a:cs typeface="+mn-cs"/>
              </a:rPr>
              <a:t>Two independent methods produce similar conclusions: the booster effect exists but is substantially smaller than suggested by raw comparisons.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691BC-5A29-3E7B-F139-0D81A7B9D67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408368" y="6308986"/>
            <a:ext cx="1807096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19.06.2026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A6F32-0E9C-80E7-FABB-63FF3E3B3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7988" y="6308987"/>
            <a:ext cx="4114800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00D54-4255-2CAC-D561-FE13F5DF23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18501" y="6308986"/>
            <a:ext cx="364299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622C71B-F0A5-40B6-B6DA-5780E9494F8A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8A7E90-3CC2-989B-9B5D-E58A4C216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541879"/>
              </p:ext>
            </p:extLst>
          </p:nvPr>
        </p:nvGraphicFramePr>
        <p:xfrm>
          <a:off x="413998" y="2167300"/>
          <a:ext cx="5177177" cy="2214004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1542690">
                  <a:extLst>
                    <a:ext uri="{9D8B030D-6E8A-4147-A177-3AD203B41FA5}">
                      <a16:colId xmlns:a16="http://schemas.microsoft.com/office/drawing/2014/main" val="312666402"/>
                    </a:ext>
                  </a:extLst>
                </a:gridCol>
                <a:gridCol w="1168991">
                  <a:extLst>
                    <a:ext uri="{9D8B030D-6E8A-4147-A177-3AD203B41FA5}">
                      <a16:colId xmlns:a16="http://schemas.microsoft.com/office/drawing/2014/main" val="2232484536"/>
                    </a:ext>
                  </a:extLst>
                </a:gridCol>
                <a:gridCol w="2465496">
                  <a:extLst>
                    <a:ext uri="{9D8B030D-6E8A-4147-A177-3AD203B41FA5}">
                      <a16:colId xmlns:a16="http://schemas.microsoft.com/office/drawing/2014/main" val="3167786007"/>
                    </a:ext>
                  </a:extLst>
                </a:gridCol>
              </a:tblGrid>
              <a:tr h="751180">
                <a:tc>
                  <a:txBody>
                    <a:bodyPr/>
                    <a:lstStyle/>
                    <a:p>
                      <a:r>
                        <a:rPr lang="en-GB" sz="1300" b="0" cap="none" spc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marL="87857" marR="87857" marT="87857" marB="131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cap="none" spc="0" dirty="0">
                          <a:solidFill>
                            <a:schemeClr val="bg1"/>
                          </a:solidFill>
                        </a:rPr>
                        <a:t>Estimated churn decrease</a:t>
                      </a:r>
                    </a:p>
                  </a:txBody>
                  <a:tcPr marL="87857" marR="87857" marT="87857" marB="131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cap="none" spc="0" dirty="0">
                          <a:solidFill>
                            <a:schemeClr val="bg1"/>
                          </a:solidFill>
                        </a:rPr>
                        <a:t>What it means</a:t>
                      </a:r>
                    </a:p>
                  </a:txBody>
                  <a:tcPr marL="87857" marR="87857" marT="87857" marB="131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693002"/>
                  </a:ext>
                </a:extLst>
              </a:tr>
              <a:tr h="487608">
                <a:tc>
                  <a:txBody>
                    <a:bodyPr/>
                    <a:lstStyle/>
                    <a:p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Naive Comparison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-2.0 pp</a:t>
                      </a:r>
                      <a:endParaRPr lang="en-GB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Biased – heavier users self-select into the booster</a:t>
                      </a: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685266"/>
                  </a:ext>
                </a:extLst>
              </a:tr>
              <a:tr h="487608">
                <a:tc>
                  <a:txBody>
                    <a:bodyPr/>
                    <a:lstStyle/>
                    <a:p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Logistic Regression (AME)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-1.0 pp</a:t>
                      </a:r>
                      <a:endParaRPr lang="en-GB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Controls for differences using a statistical model</a:t>
                      </a: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706805"/>
                  </a:ext>
                </a:extLst>
              </a:tr>
              <a:tr h="487608">
                <a:tc>
                  <a:txBody>
                    <a:bodyPr/>
                    <a:lstStyle/>
                    <a:p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Digital Twins (PSM ATT)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-1.6 pp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cap="none" spc="0" dirty="0">
                          <a:solidFill>
                            <a:schemeClr val="tx1"/>
                          </a:solidFill>
                        </a:rPr>
                        <a:t>Compares like-for-like customers (best causal proxy)</a:t>
                      </a:r>
                    </a:p>
                  </a:txBody>
                  <a:tcPr marL="87857" marR="87857" marT="87857" marB="13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2675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FBD0AE-6984-444E-A1E9-D61A8CD253E8}"/>
              </a:ext>
            </a:extLst>
          </p:cNvPr>
          <p:cNvSpPr txBox="1"/>
          <p:nvPr/>
        </p:nvSpPr>
        <p:spPr>
          <a:xfrm>
            <a:off x="427914" y="5273554"/>
            <a:ext cx="110117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Two independent methods produce similar conclusions: the booster effect exists but is substantially smaller than suggested by raw comparisons.</a:t>
            </a:r>
          </a:p>
        </p:txBody>
      </p:sp>
    </p:spTree>
    <p:extLst>
      <p:ext uri="{BB962C8B-B14F-4D97-AF65-F5344CB8AC3E}">
        <p14:creationId xmlns:p14="http://schemas.microsoft.com/office/powerpoint/2010/main" val="409620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AAA2-00E5-89B0-C8EA-241D895F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8135-8852-1030-7FF7-0C9670E3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The booster benefits one segment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D46E5-0BF6-D7BE-724D-421FC185E2E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D41BB-AA7D-C541-7AD2-C7D6F82C7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DFC1D-BA6B-A377-5CCF-A9DD9E3D1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CD9C8-4AD9-9943-138C-17F23B687B64}"/>
              </a:ext>
            </a:extLst>
          </p:cNvPr>
          <p:cNvSpPr txBox="1"/>
          <p:nvPr/>
        </p:nvSpPr>
        <p:spPr>
          <a:xfrm>
            <a:off x="457200" y="5799723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 anchorCtr="0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Almost the entire benefit comes from Extreme internet users.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66AF2A7-F2CB-FF4C-FDFA-545458CA0EE1}"/>
              </a:ext>
            </a:extLst>
          </p:cNvPr>
          <p:cNvGraphicFramePr>
            <a:graphicFrameLocks noGrp="1"/>
          </p:cNvGraphicFramePr>
          <p:nvPr/>
        </p:nvGraphicFramePr>
        <p:xfrm>
          <a:off x="1250720" y="2348880"/>
          <a:ext cx="9964744" cy="2103120"/>
        </p:xfrm>
        <a:graphic>
          <a:graphicData uri="http://schemas.openxmlformats.org/drawingml/2006/table">
            <a:tbl>
              <a:tblPr/>
              <a:tblGrid>
                <a:gridCol w="2491186">
                  <a:extLst>
                    <a:ext uri="{9D8B030D-6E8A-4147-A177-3AD203B41FA5}">
                      <a16:colId xmlns:a16="http://schemas.microsoft.com/office/drawing/2014/main" val="4086756881"/>
                    </a:ext>
                  </a:extLst>
                </a:gridCol>
                <a:gridCol w="1541262">
                  <a:extLst>
                    <a:ext uri="{9D8B030D-6E8A-4147-A177-3AD203B41FA5}">
                      <a16:colId xmlns:a16="http://schemas.microsoft.com/office/drawing/2014/main" val="603415047"/>
                    </a:ext>
                  </a:extLst>
                </a:gridCol>
                <a:gridCol w="3652897">
                  <a:extLst>
                    <a:ext uri="{9D8B030D-6E8A-4147-A177-3AD203B41FA5}">
                      <a16:colId xmlns:a16="http://schemas.microsoft.com/office/drawing/2014/main" val="2754306448"/>
                    </a:ext>
                  </a:extLst>
                </a:gridCol>
                <a:gridCol w="2279399">
                  <a:extLst>
                    <a:ext uri="{9D8B030D-6E8A-4147-A177-3AD203B41FA5}">
                      <a16:colId xmlns:a16="http://schemas.microsoft.com/office/drawing/2014/main" val="3122914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solidFill>
                            <a:srgbClr val="FFFFFF"/>
                          </a:solidFill>
                        </a:rPr>
                        <a:t>Customer segment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 dirty="0">
                          <a:solidFill>
                            <a:srgbClr val="FFFFFF"/>
                          </a:solidFill>
                        </a:rPr>
                        <a:t>Estimated booster effect on churn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1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Low usage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29.5k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−0.2 pp</a:t>
                      </a:r>
                      <a:endParaRPr lang="en-GB"/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/>
                        <a:t>[−1.6, +1.2]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3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Medium usage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40.1k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+0.5 pp</a:t>
                      </a:r>
                      <a:endParaRPr lang="en-GB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/>
                        <a:t>[−0.5, +1.3]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High usage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34.7k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0.0 pp</a:t>
                      </a:r>
                      <a:endParaRPr lang="en-GB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/>
                        <a:t>[−1.0, +0.8]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8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Extreme usage</a:t>
                      </a:r>
                      <a:endParaRPr lang="en-GB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20.7k</a:t>
                      </a:r>
                      <a:endParaRPr lang="en-GB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−6.6 pp</a:t>
                      </a:r>
                      <a:endParaRPr lang="en-GB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 b="1" dirty="0"/>
                        <a:t>[−7.5, −5.5]</a:t>
                      </a:r>
                      <a:endParaRPr lang="en-CZ" dirty="0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4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72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4C7-5188-27CD-B795-B6A3EFD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4D95-34B0-F58E-CB7E-E25CD1A9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Financial impact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4D85D-5907-034C-6710-1B441A1652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A5EEA-A88A-B94C-359B-E9083A8D5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FF664-7F62-2318-2CB1-EB182C1C8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CC2A9-5CE5-7AD6-3489-531FC80A7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79"/>
          <a:stretch/>
        </p:blipFill>
        <p:spPr>
          <a:xfrm>
            <a:off x="850333" y="1844824"/>
            <a:ext cx="10346178" cy="386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9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EACF2-241D-D9EE-2BAB-5328B4F8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A394-11C5-4F37-60AF-1F57B912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Recommendation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2D577-D7C7-E47B-34B1-ABD22CDB65E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25A51-F5CF-7D14-B5A9-70AB5D51D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CF49F-095D-E6E0-270B-D265E1EE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0C711F3-A206-4961-04A6-517621DB7600}"/>
              </a:ext>
            </a:extLst>
          </p:cNvPr>
          <p:cNvGraphicFramePr>
            <a:graphicFrameLocks noGrp="1"/>
          </p:cNvGraphicFramePr>
          <p:nvPr/>
        </p:nvGraphicFramePr>
        <p:xfrm>
          <a:off x="224626" y="2163413"/>
          <a:ext cx="11376024" cy="2346960"/>
        </p:xfrm>
        <a:graphic>
          <a:graphicData uri="http://schemas.openxmlformats.org/drawingml/2006/table">
            <a:tbl>
              <a:tblPr/>
              <a:tblGrid>
                <a:gridCol w="1982942">
                  <a:extLst>
                    <a:ext uri="{9D8B030D-6E8A-4147-A177-3AD203B41FA5}">
                      <a16:colId xmlns:a16="http://schemas.microsoft.com/office/drawing/2014/main" val="984476675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1826060530"/>
                    </a:ext>
                  </a:extLst>
                </a:gridCol>
                <a:gridCol w="3236708">
                  <a:extLst>
                    <a:ext uri="{9D8B030D-6E8A-4147-A177-3AD203B41FA5}">
                      <a16:colId xmlns:a16="http://schemas.microsoft.com/office/drawing/2014/main" val="4247326266"/>
                    </a:ext>
                  </a:extLst>
                </a:gridCol>
                <a:gridCol w="2844006">
                  <a:extLst>
                    <a:ext uri="{9D8B030D-6E8A-4147-A177-3AD203B41FA5}">
                      <a16:colId xmlns:a16="http://schemas.microsoft.com/office/drawing/2014/main" val="917719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Z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Option A: Roll out to all customers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Option B: Target Extreme users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Option C: Run A/B test first</a:t>
                      </a:r>
                    </a:p>
                  </a:txBody>
                  <a:tcPr anchor="ctr">
                    <a:lnB w="9525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777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Investment</a:t>
                      </a:r>
                      <a:endParaRPr lang="en-GB" sz="1400"/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High (CHF 52.5M)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Moderate (CHF 8.7M)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 anchor="ctr"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5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Expected ROI</a:t>
                      </a:r>
                      <a:endParaRPr lang="en-GB" sz="1400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C0392B"/>
                          </a:solidFill>
                          <a:latin typeface="Arial"/>
                        </a:rPr>
                        <a:t>✗  </a:t>
                      </a:r>
                      <a:r>
                        <a:rPr lang="en-GB" sz="1400" dirty="0"/>
                        <a:t>Negative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2E8B45"/>
                          </a:solidFill>
                          <a:latin typeface="Arial"/>
                        </a:rPr>
                        <a:t>✓  </a:t>
                      </a:r>
                      <a:r>
                        <a:rPr lang="en-GB" sz="1400" dirty="0"/>
                        <a:t>Potentially attractive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N/A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211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Evidence</a:t>
                      </a:r>
                      <a:endParaRPr lang="en-GB" sz="1400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Weak for most segments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Strongest observed effect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Provides causal evidence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3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Risk</a:t>
                      </a:r>
                      <a:endParaRPr lang="en-GB" sz="1400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 risk of overspending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87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Time to decision</a:t>
                      </a:r>
                      <a:endParaRPr lang="en-GB" sz="1400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Immediate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Short-term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Additional 2–3 months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26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Recommendation</a:t>
                      </a:r>
                      <a:endParaRPr lang="en-GB" sz="1400"/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C0392B"/>
                          </a:solidFill>
                          <a:latin typeface="Arial"/>
                        </a:rPr>
                        <a:t>✗  </a:t>
                      </a:r>
                      <a:r>
                        <a:rPr lang="en-GB" sz="1400" dirty="0"/>
                        <a:t>Do not pursue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2E8B45"/>
                          </a:solidFill>
                          <a:latin typeface="Arial"/>
                        </a:rPr>
                        <a:t>✓  </a:t>
                      </a:r>
                      <a:r>
                        <a:rPr lang="en-GB" sz="1400" dirty="0"/>
                        <a:t>Preferred business option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39200"/>
                          </a:solidFill>
                          <a:latin typeface="Arial"/>
                        </a:rPr>
                        <a:t>★  </a:t>
                      </a:r>
                      <a:r>
                        <a:rPr lang="en-GB" sz="1400" dirty="0"/>
                        <a:t>Recommended before major investment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228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314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E81C00-B661-E944-868F-01142C36801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ad1118b-6384-4767-a243-7358d8644ea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8448</TotalTime>
  <Words>435</Words>
  <Application>Microsoft Macintosh PowerPoint</Application>
  <PresentationFormat>Widescreen</PresentationFormat>
  <Paragraphs>106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Tahoma</vt:lpstr>
      <vt:lpstr>GmbH_Sunrise</vt:lpstr>
      <vt:lpstr>GmbH_Sunrise</vt:lpstr>
      <vt:lpstr>think-cell Slide</vt:lpstr>
      <vt:lpstr>WiFi Booster Impact</vt:lpstr>
      <vt:lpstr>Booster rollout is not economically justified for the full customer base</vt:lpstr>
      <vt:lpstr>Heavy users self-select into the booster</vt:lpstr>
      <vt:lpstr>Comparing like-for-like customers</vt:lpstr>
      <vt:lpstr>The booster benefits one segment</vt:lpstr>
      <vt:lpstr>Financial impact</vt:lpstr>
      <vt:lpstr>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21</cp:revision>
  <dcterms:created xsi:type="dcterms:W3CDTF">2026-05-26T15:46:55Z</dcterms:created>
  <dcterms:modified xsi:type="dcterms:W3CDTF">2026-06-18T16:36:21Z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