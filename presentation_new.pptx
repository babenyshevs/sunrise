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</p:sldMasterIdLst>
  <p:notesMasterIdLst>
    <p:notesMasterId r:id="rId21"/>
  </p:notesMasterIdLst>
  <p:sldIdLst>
    <p:sldId id="256" r:id="rId5"/>
    <p:sldId id="2147474643" r:id="rId6"/>
    <p:sldId id="2147474647" r:id="rId7"/>
    <p:sldId id="2147474648" r:id="rId8"/>
    <p:sldId id="2147474649" r:id="rId9"/>
    <p:sldId id="2147474650" r:id="rId10"/>
    <p:sldId id="2147474651" r:id="rId11"/>
    <p:sldId id="2147474629" r:id="rId12"/>
    <p:sldId id="2147474652" r:id="rId13"/>
    <p:sldId id="2147474653" r:id="rId14"/>
    <p:sldId id="2147474654" r:id="rId15"/>
    <p:sldId id="2147474655" r:id="rId16"/>
    <p:sldId id="2147474656" r:id="rId17"/>
    <p:sldId id="2147474657" r:id="rId18"/>
    <p:sldId id="2147474658" r:id="rId19"/>
    <p:sldId id="2147474626" r:id="rId20"/>
  </p:sldIdLst>
  <p:sldSz cx="12192000" cy="6858000"/>
  <p:notesSz cx="6858000" cy="9144000"/>
  <p:custDataLst>
    <p:tags r:id="rId2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5" autoAdjust="0"/>
    <p:restoredTop sz="94655" autoAdjust="0"/>
  </p:normalViewPr>
  <p:slideViewPr>
    <p:cSldViewPr showGuides="1">
      <p:cViewPr>
        <p:scale>
          <a:sx n="93" d="100"/>
          <a:sy n="93" d="100"/>
        </p:scale>
        <p:origin x="176" y="10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ämmel, Klaus" userId="21c347ad-9fe7-405b-8352-d0801ef57c0d" providerId="ADAL" clId="{1CCC952E-8CA9-405E-BB06-88E1DD7F6781}"/>
    <pc:docChg chg="delSld">
      <pc:chgData name="Lämmel, Klaus" userId="21c347ad-9fe7-405b-8352-d0801ef57c0d" providerId="ADAL" clId="{1CCC952E-8CA9-405E-BB06-88E1DD7F6781}" dt="2026-06-02T09:45:28.075" v="0" actId="47"/>
      <pc:docMkLst>
        <pc:docMk/>
      </pc:docMkLst>
      <pc:sldChg chg="del">
        <pc:chgData name="Lämmel, Klaus" userId="21c347ad-9fe7-405b-8352-d0801ef57c0d" providerId="ADAL" clId="{1CCC952E-8CA9-405E-BB06-88E1DD7F6781}" dt="2026-06-02T09:45:28.075" v="0" actId="47"/>
        <pc:sldMkLst>
          <pc:docMk/>
          <pc:sldMk cId="3553195333" sldId="214747464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17.06.26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17/06/2026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17/06/2026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17/06/2026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DF8B29-66A3-8278-083B-92F57A9319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Stanislav </a:t>
            </a:r>
            <a:r>
              <a:rPr lang="en-GB" dirty="0" err="1"/>
              <a:t>Babenyshev</a:t>
            </a:r>
            <a:endParaRPr lang="en-GB" dirty="0"/>
          </a:p>
          <a:p>
            <a:r>
              <a:rPr lang="en-GB" dirty="0"/>
              <a:t>19.06.2026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73CA-C871-6357-B2F3-35A6ABAE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3B06-5A28-1880-7E39-51BB8D5B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Booster rollout is not economically justified for the full customer base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B9F99-1057-0A04-4234-12F3858D84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8D50F-3FC2-DB86-2FEB-68D62C6BE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8681A-CA9A-2ECC-969B-110DC936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BF8BC-788D-B39C-C722-DF5742230246}"/>
              </a:ext>
            </a:extLst>
          </p:cNvPr>
          <p:cNvSpPr txBox="1"/>
          <p:nvPr/>
        </p:nvSpPr>
        <p:spPr>
          <a:xfrm>
            <a:off x="551384" y="1844824"/>
            <a:ext cx="4715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/>
              <a:t>Recommendation</a:t>
            </a:r>
          </a:p>
          <a:p>
            <a:pPr algn="l"/>
            <a:r>
              <a:rPr lang="en-CZ" dirty="0"/>
              <a:t>❌ </a:t>
            </a:r>
            <a:r>
              <a:rPr lang="en-GB" dirty="0"/>
              <a:t>Do not roll out booster to all customers</a:t>
            </a:r>
          </a:p>
          <a:p>
            <a:pPr algn="l"/>
            <a:r>
              <a:rPr lang="en-CZ" dirty="0"/>
              <a:t>✅ </a:t>
            </a:r>
            <a:r>
              <a:rPr lang="en-GB" dirty="0"/>
              <a:t>Consider targeted rollout for Extreme internet users</a:t>
            </a:r>
          </a:p>
          <a:p>
            <a:pPr algn="l"/>
            <a:r>
              <a:rPr lang="en-CZ" dirty="0"/>
              <a:t>✅ </a:t>
            </a:r>
            <a:r>
              <a:rPr lang="en-GB" dirty="0"/>
              <a:t>Validate with randomized A/B test before large investment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23483-CC19-43C9-A7F0-9331D10FB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786667"/>
              </p:ext>
            </p:extLst>
          </p:nvPr>
        </p:nvGraphicFramePr>
        <p:xfrm>
          <a:off x="6061422" y="1844824"/>
          <a:ext cx="5364572" cy="2377440"/>
        </p:xfrm>
        <a:graphic>
          <a:graphicData uri="http://schemas.openxmlformats.org/drawingml/2006/table">
            <a:tbl>
              <a:tblPr/>
              <a:tblGrid>
                <a:gridCol w="2034487">
                  <a:extLst>
                    <a:ext uri="{9D8B030D-6E8A-4147-A177-3AD203B41FA5}">
                      <a16:colId xmlns:a16="http://schemas.microsoft.com/office/drawing/2014/main" val="1724286036"/>
                    </a:ext>
                  </a:extLst>
                </a:gridCol>
                <a:gridCol w="3330085">
                  <a:extLst>
                    <a:ext uri="{9D8B030D-6E8A-4147-A177-3AD203B41FA5}">
                      <a16:colId xmlns:a16="http://schemas.microsoft.com/office/drawing/2014/main" val="22457555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275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Rollout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CHF 52.5M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652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Estimated ROI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703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 dirty="0"/>
                        <a:t>Strongest beneficiary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Extreme internet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2459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GB" sz="1800"/>
                        <a:t>Confidence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Moderate (observational evidence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40964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478F14-938B-1987-447D-B756AB9997F7}"/>
              </a:ext>
            </a:extLst>
          </p:cNvPr>
          <p:cNvSpPr txBox="1"/>
          <p:nvPr/>
        </p:nvSpPr>
        <p:spPr>
          <a:xfrm>
            <a:off x="839416" y="4907902"/>
            <a:ext cx="10586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Initial analysis suggested a large benefit. After correcting for selection bias, the estimated effect is much smaller and concentrated in one segment.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394916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965E-8DD5-0B4B-D1E7-36AF1774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84FF1AF7-4DFF-6627-2DC1-F65E0D5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935" y="2479206"/>
            <a:ext cx="5588000" cy="3060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48938F-A81A-F40C-689C-9E99A9D2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Heavy users self-select into the booster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4CEA-F99B-E7D0-AA4F-929849C142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3393-CA11-F587-8193-7C63AD6EA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BE87C-4B93-8C4F-EFF2-5C71E4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88908-276D-34D6-4E8A-614938792381}"/>
              </a:ext>
            </a:extLst>
          </p:cNvPr>
          <p:cNvSpPr txBox="1"/>
          <p:nvPr/>
        </p:nvSpPr>
        <p:spPr>
          <a:xfrm>
            <a:off x="2063552" y="5786869"/>
            <a:ext cx="9002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Comparing raw averages would overestimate the booster effect. So we need to adjust for that.</a:t>
            </a:r>
            <a:endParaRPr lang="en-C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B1E6C-2F91-49B4-1BA3-539193F3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76" y="2443562"/>
            <a:ext cx="5665924" cy="309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59746A-B76A-7131-ED12-F3C5F85B0371}"/>
              </a:ext>
            </a:extLst>
          </p:cNvPr>
          <p:cNvSpPr txBox="1"/>
          <p:nvPr/>
        </p:nvSpPr>
        <p:spPr>
          <a:xfrm>
            <a:off x="2898439" y="1535981"/>
            <a:ext cx="6395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apparent overall benefit comes mostly from the fact that heavy users choose the booster.</a:t>
            </a:r>
            <a:endParaRPr lang="en-CZ" sz="12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22DF75-E527-1651-DAB8-903245C329DA}"/>
              </a:ext>
            </a:extLst>
          </p:cNvPr>
          <p:cNvSpPr/>
          <p:nvPr/>
        </p:nvSpPr>
        <p:spPr>
          <a:xfrm>
            <a:off x="3946724" y="2601932"/>
            <a:ext cx="1152128" cy="11521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352343-D58F-DC2C-1B41-27E7B76D9E7C}"/>
              </a:ext>
            </a:extLst>
          </p:cNvPr>
          <p:cNvSpPr/>
          <p:nvPr/>
        </p:nvSpPr>
        <p:spPr>
          <a:xfrm>
            <a:off x="10410635" y="2728080"/>
            <a:ext cx="1579235" cy="157923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 sz="1600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095A65-A7B8-4C9F-E443-43FD8E98911F}"/>
              </a:ext>
            </a:extLst>
          </p:cNvPr>
          <p:cNvCxnSpPr>
            <a:cxnSpLocks/>
            <a:stCxn id="12" idx="3"/>
            <a:endCxn id="18" idx="0"/>
          </p:cNvCxnSpPr>
          <p:nvPr/>
        </p:nvCxnSpPr>
        <p:spPr>
          <a:xfrm>
            <a:off x="9293561" y="1674481"/>
            <a:ext cx="1906692" cy="1053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926BF1-489A-67B1-BB4D-DA5227FC81B6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flipH="1">
            <a:off x="4522788" y="1812980"/>
            <a:ext cx="1573212" cy="788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88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969D-5D2F-47D8-508B-FDEB00FA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4E85-993F-1666-EF36-694AE21D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Comparing like-for-like customers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691BC-5A29-3E7B-F139-0D81A7B9D6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A6F32-0E9C-80E7-FABB-63FF3E3B3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00D54-4255-2CAC-D561-FE13F5DF2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E066E4-E7C3-A28F-9284-B633447DBD5C}"/>
              </a:ext>
            </a:extLst>
          </p:cNvPr>
          <p:cNvSpPr txBox="1"/>
          <p:nvPr/>
        </p:nvSpPr>
        <p:spPr>
          <a:xfrm>
            <a:off x="406800" y="5662655"/>
            <a:ext cx="110117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Two independent methods produce similar conclusions: the booster effect exists but is substantially smaller than suggested by raw comparisons.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B75B1B-048E-5633-5FC4-954568CB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484784"/>
            <a:ext cx="7772400" cy="259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15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AAA2-00E5-89B0-C8EA-241D895F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8135-8852-1030-7FF7-0C9670E3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The booster benefits one segment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D46E5-0BF6-D7BE-724D-421FC185E2E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D41BB-AA7D-C541-7AD2-C7D6F82C7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DFC1D-BA6B-A377-5CCF-A9DD9E3D1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CD9C8-4AD9-9943-138C-17F23B687B64}"/>
              </a:ext>
            </a:extLst>
          </p:cNvPr>
          <p:cNvSpPr txBox="1"/>
          <p:nvPr/>
        </p:nvSpPr>
        <p:spPr>
          <a:xfrm>
            <a:off x="406800" y="5517232"/>
            <a:ext cx="11011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Almost the entire benefit comes from Extreme internet users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66AF2A7-F2CB-FF4C-FDFA-545458CA0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099493"/>
              </p:ext>
            </p:extLst>
          </p:nvPr>
        </p:nvGraphicFramePr>
        <p:xfrm>
          <a:off x="3461551" y="2133296"/>
          <a:ext cx="7990680" cy="2103120"/>
        </p:xfrm>
        <a:graphic>
          <a:graphicData uri="http://schemas.openxmlformats.org/drawingml/2006/table">
            <a:tbl>
              <a:tblPr/>
              <a:tblGrid>
                <a:gridCol w="1997670">
                  <a:extLst>
                    <a:ext uri="{9D8B030D-6E8A-4147-A177-3AD203B41FA5}">
                      <a16:colId xmlns:a16="http://schemas.microsoft.com/office/drawing/2014/main" val="4086756881"/>
                    </a:ext>
                  </a:extLst>
                </a:gridCol>
                <a:gridCol w="1997670">
                  <a:extLst>
                    <a:ext uri="{9D8B030D-6E8A-4147-A177-3AD203B41FA5}">
                      <a16:colId xmlns:a16="http://schemas.microsoft.com/office/drawing/2014/main" val="603415047"/>
                    </a:ext>
                  </a:extLst>
                </a:gridCol>
                <a:gridCol w="2167501">
                  <a:extLst>
                    <a:ext uri="{9D8B030D-6E8A-4147-A177-3AD203B41FA5}">
                      <a16:colId xmlns:a16="http://schemas.microsoft.com/office/drawing/2014/main" val="2754306448"/>
                    </a:ext>
                  </a:extLst>
                </a:gridCol>
                <a:gridCol w="1827839">
                  <a:extLst>
                    <a:ext uri="{9D8B030D-6E8A-4147-A177-3AD203B41FA5}">
                      <a16:colId xmlns:a16="http://schemas.microsoft.com/office/drawing/2014/main" val="3122914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Customer 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/>
                        <a:t>Estimated booster effect on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/>
                        <a:t>95% 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761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Low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29.5k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−0.2 pp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/>
                        <a:t>[−1.6, +1.2]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73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Medium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40.1k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+0.5 pp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/>
                        <a:t>[−0.5, +1.3]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3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High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/>
                        <a:t>34.7k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0.0 pp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/>
                        <a:t>[−1.0, +0.8]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8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Extreme usage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20.7k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b="1"/>
                        <a:t>−6.6 pp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Z" b="1" dirty="0"/>
                        <a:t>[−7.5, −5.5]</a:t>
                      </a:r>
                      <a:endParaRPr lang="en-CZ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447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00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4C7-5188-27CD-B795-B6A3EFD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4D95-34B0-F58E-CB7E-E25CD1A9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Financial impact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4D85D-5907-034C-6710-1B441A1652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A5EEA-A88A-B94C-359B-E9083A8D5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F664-7F62-2318-2CB1-EB182C1C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C2A9-5CE5-7AD6-3489-531FC80A7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79"/>
          <a:stretch/>
        </p:blipFill>
        <p:spPr>
          <a:xfrm>
            <a:off x="850333" y="1844824"/>
            <a:ext cx="10346178" cy="386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3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EACF2-241D-D9EE-2BAB-5328B4F8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A394-11C5-4F37-60AF-1F57B912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Recommendation</a:t>
            </a:r>
            <a:endParaRPr lang="en-CH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2D577-D7C7-E47B-34B1-ABD22CDB65E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17/06/2026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25A51-F5CF-7D14-B5A9-70AB5D51D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CF49F-095D-E6E0-270B-D265E1EE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0C711F3-A206-4961-04A6-517621DB7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862859"/>
              </p:ext>
            </p:extLst>
          </p:nvPr>
        </p:nvGraphicFramePr>
        <p:xfrm>
          <a:off x="224626" y="2163413"/>
          <a:ext cx="11376024" cy="2346960"/>
        </p:xfrm>
        <a:graphic>
          <a:graphicData uri="http://schemas.openxmlformats.org/drawingml/2006/table">
            <a:tbl>
              <a:tblPr/>
              <a:tblGrid>
                <a:gridCol w="1982942">
                  <a:extLst>
                    <a:ext uri="{9D8B030D-6E8A-4147-A177-3AD203B41FA5}">
                      <a16:colId xmlns:a16="http://schemas.microsoft.com/office/drawing/2014/main" val="984476675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1826060530"/>
                    </a:ext>
                  </a:extLst>
                </a:gridCol>
                <a:gridCol w="3236708">
                  <a:extLst>
                    <a:ext uri="{9D8B030D-6E8A-4147-A177-3AD203B41FA5}">
                      <a16:colId xmlns:a16="http://schemas.microsoft.com/office/drawing/2014/main" val="4247326266"/>
                    </a:ext>
                  </a:extLst>
                </a:gridCol>
                <a:gridCol w="2844006">
                  <a:extLst>
                    <a:ext uri="{9D8B030D-6E8A-4147-A177-3AD203B41FA5}">
                      <a16:colId xmlns:a16="http://schemas.microsoft.com/office/drawing/2014/main" val="917719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Z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Option A: Roll out to all customers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Option B: Target Extreme users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Option C: Run A/B test first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77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Investment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High (CHF 52.5M)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Moderate (CHF 8.7M)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5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Expected ROI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Z" sz="1400"/>
                        <a:t>❌ </a:t>
                      </a:r>
                      <a:r>
                        <a:rPr lang="en-GB" sz="1400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Z" sz="1400"/>
                        <a:t>✅ </a:t>
                      </a:r>
                      <a:r>
                        <a:rPr lang="en-GB" sz="1400"/>
                        <a:t>Potentially attractive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N/A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21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Evidence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Weak for most segments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Strongest observed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Provides causal 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3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Risk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 risk of overspending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87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Time to decision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Short-term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Additional 2–3 months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26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/>
                        <a:t>Recommendation</a:t>
                      </a:r>
                      <a:endParaRPr lang="en-GB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Z" sz="1400"/>
                        <a:t>❌ </a:t>
                      </a:r>
                      <a:r>
                        <a:rPr lang="en-GB" sz="1400"/>
                        <a:t>Do not pursue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Z" sz="1400"/>
                        <a:t>✅ </a:t>
                      </a:r>
                      <a:r>
                        <a:rPr lang="en-GB" sz="1400"/>
                        <a:t>Preferred business 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Z" sz="1400" dirty="0"/>
                        <a:t>⭐ </a:t>
                      </a:r>
                      <a:r>
                        <a:rPr lang="en-GB" sz="1400" dirty="0"/>
                        <a:t>Recommended before major investment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228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00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3DAE-E903-1AD3-541C-B0B94A7E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23933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2507-8817-78A8-D98E-16AB86B7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6C8F-C1DE-A2B5-2740-0A9ED057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0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Booster Adoption by Commune (Urban vs Rural)</a:t>
            </a:r>
            <a:endParaRPr lang="en-GB" sz="1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5308D-CD8A-45AF-F95B-19E4E058B4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FD016-9AAA-6614-0DB2-187473E08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47039-538F-AC9F-93DB-E9846C2B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ADBED2-2F40-3A99-12F5-7BC66ECEF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268760"/>
            <a:ext cx="9634674" cy="40103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839FA8-A612-E0F9-CB4D-D000F71D7D5E}"/>
              </a:ext>
            </a:extLst>
          </p:cNvPr>
          <p:cNvSpPr txBox="1"/>
          <p:nvPr/>
        </p:nvSpPr>
        <p:spPr>
          <a:xfrm>
            <a:off x="344664" y="5470893"/>
            <a:ext cx="10719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Adoption by commune → Urban customers request it more than rural</a:t>
            </a:r>
          </a:p>
        </p:txBody>
      </p:sp>
    </p:spTree>
    <p:extLst>
      <p:ext uri="{BB962C8B-B14F-4D97-AF65-F5344CB8AC3E}">
        <p14:creationId xmlns:p14="http://schemas.microsoft.com/office/powerpoint/2010/main" val="220095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95A7B-B086-D59F-9D30-415FA977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E5F5-BB6B-AEAC-6A33-A1A3B98BA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Tenure Distributions: Booster vs No-Booster (Boxplot)</a:t>
            </a:r>
            <a:endParaRPr lang="en-GB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42937-44E0-644D-8B5F-55D85086027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F35E1-19B8-70B1-EC68-E81F349E5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D7DAD-60D2-3332-B2BC-E7B53785D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68D5D-38BA-BAF8-BD95-34618C9ED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697774"/>
            <a:ext cx="7561021" cy="4122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EFE49-00FC-E45E-F392-7EE00849D551}"/>
              </a:ext>
            </a:extLst>
          </p:cNvPr>
          <p:cNvSpPr txBox="1"/>
          <p:nvPr/>
        </p:nvSpPr>
        <p:spPr>
          <a:xfrm>
            <a:off x="8514517" y="2492896"/>
            <a:ext cx="2903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Tenure boxplot → Booster adopters have similar tenure</a:t>
            </a:r>
          </a:p>
        </p:txBody>
      </p:sp>
    </p:spTree>
    <p:extLst>
      <p:ext uri="{BB962C8B-B14F-4D97-AF65-F5344CB8AC3E}">
        <p14:creationId xmlns:p14="http://schemas.microsoft.com/office/powerpoint/2010/main" val="242515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A2A2-5181-2D4A-63E4-18F8EBE6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CC84-B316-940F-4362-979606A0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Bundle Stickiness: Churn Rate by TV × Mobile Product</a:t>
            </a:r>
            <a:br>
              <a:rPr lang="en-GB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br>
              <a:rPr lang="en-GB" sz="8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en-GB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1AEE3-2BE6-41DD-9339-8AB831FDAD3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B8B41-E93A-C363-8829-B3E6089E6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C81B9-412C-E14C-F863-C8FF1F740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F5108-0C44-38A0-DC8F-778928DF1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1350800"/>
            <a:ext cx="5526675" cy="3869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D005D7-70A8-904B-79FB-D89A56B28C83}"/>
              </a:ext>
            </a:extLst>
          </p:cNvPr>
          <p:cNvSpPr txBox="1"/>
          <p:nvPr/>
        </p:nvSpPr>
        <p:spPr>
          <a:xfrm>
            <a:off x="504491" y="5415652"/>
            <a:ext cx="10723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TV × Mobile bundle heatmap → No-bundle customers churn at 20%, vs 12% for bundled (golden handcuffs)</a:t>
            </a:r>
          </a:p>
        </p:txBody>
      </p:sp>
    </p:spTree>
    <p:extLst>
      <p:ext uri="{BB962C8B-B14F-4D97-AF65-F5344CB8AC3E}">
        <p14:creationId xmlns:p14="http://schemas.microsoft.com/office/powerpoint/2010/main" val="2463311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458F-6B55-A416-7402-A7C88B40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5241-5394-0795-03E4-7BB44FE7C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Tenure Cohorts vs Churn Rate (Life-stage Curve)</a:t>
            </a:r>
            <a:endParaRPr lang="en-GB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D85DC-5B2A-F4F6-AC74-D4CCB1DB8FC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AD3ED-9FD7-AB7D-A5E8-E9664AE57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64E9A-D534-C695-595F-99B9AA5EC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90FBC7-EB21-64E4-9404-D9AF7CCD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508" y="1567546"/>
            <a:ext cx="7600292" cy="37229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C6BB0F-9F51-80CD-3A75-6D9D8038B9CC}"/>
              </a:ext>
            </a:extLst>
          </p:cNvPr>
          <p:cNvSpPr txBox="1"/>
          <p:nvPr/>
        </p:nvSpPr>
        <p:spPr>
          <a:xfrm>
            <a:off x="623392" y="5670346"/>
            <a:ext cx="10338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Life-stage curve → Churn peaks 13–24 months then falls (tenure effect)</a:t>
            </a:r>
          </a:p>
        </p:txBody>
      </p:sp>
    </p:spTree>
    <p:extLst>
      <p:ext uri="{BB962C8B-B14F-4D97-AF65-F5344CB8AC3E}">
        <p14:creationId xmlns:p14="http://schemas.microsoft.com/office/powerpoint/2010/main" val="155902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D734-7DB7-243E-A0AD-A0689CC5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3952-347E-4917-8CC8-A09B098C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Data Health: Mixed Correlation Heatmap</a:t>
            </a:r>
            <a:endParaRPr lang="en-GB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A80DC-E9C8-21BA-3989-0C9032BD0F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92532-8AFF-36C0-7E23-27E96D9CA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08288-AAA9-9853-E0B8-13B5D447A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CEC0-54C6-78B8-3F5D-763472AE3F91}"/>
              </a:ext>
            </a:extLst>
          </p:cNvPr>
          <p:cNvSpPr txBox="1"/>
          <p:nvPr/>
        </p:nvSpPr>
        <p:spPr>
          <a:xfrm>
            <a:off x="7464152" y="1628800"/>
            <a:ext cx="4428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Mixed correlation heatmap (Pearson / Point-Biserial / Cramér's V) → </a:t>
            </a:r>
            <a:r>
              <a:rPr lang="en-GB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has_booster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↔ </a:t>
            </a:r>
            <a:r>
              <a:rPr lang="en-GB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tv_product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V=0.34, the key confounder for the logistic model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0B5E7-8E6D-8037-7B4F-142946DE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50" y="1628800"/>
            <a:ext cx="4761710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8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09DD-7A5D-3E4F-D39F-1C0EC9DC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0EE9-C54B-E0A2-C261-F5C93F96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*</a:t>
            </a:r>
            <a:r>
              <a:rPr lang="en-GB" sz="8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*Non-linear</a:t>
            </a:r>
            <a:r>
              <a:rPr lang="en-GB" sz="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churn by life stage** — does churn peak for young or old customers?</a:t>
            </a:r>
            <a:endParaRPr lang="en-GB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9B1BD-9F9B-0B42-84E4-DC03AA3350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5DAC2-5EDB-8F0B-F8E8-5042AF4CE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E9E4A-266C-52D3-42CB-AA53A3E69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CE9EF-7DDF-FD8B-EF62-2447425DAFAE}"/>
              </a:ext>
            </a:extLst>
          </p:cNvPr>
          <p:cNvSpPr txBox="1"/>
          <p:nvPr/>
        </p:nvSpPr>
        <p:spPr>
          <a:xfrm>
            <a:off x="562708" y="5445224"/>
            <a:ext cx="11629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Non-linear Age Check: U-shaped churn curve — young customers (18–25: 19.1%) churn most, drops sharply to 51–65 (12.4%), then rises slightly at 66+ (13.7%). Implication: a linear age term in the logit model would not capture this; the </a:t>
            </a:r>
            <a:r>
              <a:rPr lang="en-GB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age_group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dummy approach is preferable.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3C4BE-003F-8FFF-7986-D5EE0D94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465886"/>
            <a:ext cx="6407100" cy="349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0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704ED-418A-994F-D23A-6A632A15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23C4-58CE-FE28-30C0-5DAAD09E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Regional Churn: Average Churned Rate by Swiss Region</a:t>
            </a:r>
            <a:endParaRPr lang="en-GB" sz="8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7553B-9E4D-882D-8D5B-9EAA27E5F87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18/06/2026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5CDF0-CAB6-DF62-CA79-2EAFC1F51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3AC11-4106-2BC3-717A-B38709936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2D549-2133-34C6-6AD8-F937E99745E7}"/>
              </a:ext>
            </a:extLst>
          </p:cNvPr>
          <p:cNvSpPr txBox="1"/>
          <p:nvPr/>
        </p:nvSpPr>
        <p:spPr>
          <a:xfrm>
            <a:off x="562708" y="5445224"/>
            <a:ext cx="1162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Regional Churn: Bern/</a:t>
            </a:r>
            <a:r>
              <a:rPr lang="en-GB" sz="12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Mittelland</a:t>
            </a:r>
            <a:r>
              <a:rPr lang="en-GB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(14.6%), Lake Geneva (14.4%), and Zürich (14.3%) are above the 14.1% average; Eastern Switzerland (13.2%) and Central Switzerland (13.6%) are below. Regional variation is modest (~1.4pp range) but real.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CA44E-1CB7-4CF2-8734-246D7898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1762022"/>
            <a:ext cx="7762180" cy="346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85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8289</TotalTime>
  <Words>675</Words>
  <Application>Microsoft Macintosh PowerPoint</Application>
  <PresentationFormat>Widescreen</PresentationFormat>
  <Paragraphs>129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-webkit-standard</vt:lpstr>
      <vt:lpstr>Arial</vt:lpstr>
      <vt:lpstr>Calibri</vt:lpstr>
      <vt:lpstr>Menlo</vt:lpstr>
      <vt:lpstr>Tahoma</vt:lpstr>
      <vt:lpstr>GmbH_Sunrise</vt:lpstr>
      <vt:lpstr>think-cell Slide</vt:lpstr>
      <vt:lpstr>WiFi Booster Impact</vt:lpstr>
      <vt:lpstr>Booster rollout is not economically justified for the full customer base</vt:lpstr>
      <vt:lpstr>Heavy users self-select into the booster</vt:lpstr>
      <vt:lpstr>Comparing like-for-like customers</vt:lpstr>
      <vt:lpstr>The booster benefits one segment</vt:lpstr>
      <vt:lpstr>Financial impact</vt:lpstr>
      <vt:lpstr>Recommendation</vt:lpstr>
      <vt:lpstr>Appendix</vt:lpstr>
      <vt:lpstr>Booster Adoption by Commune (Urban vs Rural)</vt:lpstr>
      <vt:lpstr>Tenure Distributions: Booster vs No-Booster (Boxplot)</vt:lpstr>
      <vt:lpstr>Bundle Stickiness: Churn Rate by TV × Mobile Product  </vt:lpstr>
      <vt:lpstr>Tenure Cohorts vs Churn Rate (Life-stage Curve)</vt:lpstr>
      <vt:lpstr>Data Health: Mixed Correlation Heatmap</vt:lpstr>
      <vt:lpstr>**Non-linear churn by life stage** — does churn peak for young or old customers?</vt:lpstr>
      <vt:lpstr>Regional Churn: Average Churned Rate by Swiss Region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13</cp:revision>
  <dcterms:created xsi:type="dcterms:W3CDTF">2026-05-26T15:46:55Z</dcterms:created>
  <dcterms:modified xsi:type="dcterms:W3CDTF">2026-06-18T13:47:55Z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